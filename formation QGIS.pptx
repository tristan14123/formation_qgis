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8288000" cy="10287000"/>
  <p:notesSz cx="6858000" cy="9144000"/>
  <p:embeddedFontLst>
    <p:embeddedFont>
      <p:font typeface="Poppins Bold" charset="1" panose="00000800000000000000"/>
      <p:regular r:id="rId30"/>
    </p:embeddedFont>
    <p:embeddedFont>
      <p:font typeface="Poppins" charset="1" panose="00000500000000000000"/>
      <p:regular r:id="rId31"/>
    </p:embeddedFont>
    <p:embeddedFont>
      <p:font typeface="Montserrat Medium" charset="1" panose="0000060000000000000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notebooklm.google.com/notebook/bec135f1-ad71-480d-95cf-ede7012a7cfe/artifact/68f3882c-8294-4115-b71d-f2c17b4d9d46?utm_source=nlm_web_share&amp;utm_medium=google_oo&amp;utm_campaign=art_share_2&amp;utm_content=&amp;utm_smc=nlm_web_share_google_oo_art_share_2_" TargetMode="External" Type="http://schemas.openxmlformats.org/officeDocument/2006/relationships/hyperlink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8867899">
            <a:off x="-2973627" y="-6666509"/>
            <a:ext cx="12213453" cy="12081047"/>
            <a:chOff x="0" y="0"/>
            <a:chExt cx="1881515" cy="18611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3926" y="0"/>
              <a:ext cx="1873662" cy="1861118"/>
            </a:xfrm>
            <a:custGeom>
              <a:avLst/>
              <a:gdLst/>
              <a:ahLst/>
              <a:cxnLst/>
              <a:rect r="r" b="b" t="t" l="l"/>
              <a:pathLst>
                <a:path h="1861118" w="1873662">
                  <a:moveTo>
                    <a:pt x="237307" y="0"/>
                  </a:moveTo>
                  <a:lnTo>
                    <a:pt x="1839556" y="0"/>
                  </a:lnTo>
                  <a:cubicBezTo>
                    <a:pt x="1849246" y="0"/>
                    <a:pt x="1858479" y="4122"/>
                    <a:pt x="1864948" y="11336"/>
                  </a:cubicBezTo>
                  <a:cubicBezTo>
                    <a:pt x="1871417" y="18550"/>
                    <a:pt x="1874513" y="28176"/>
                    <a:pt x="1873461" y="37808"/>
                  </a:cubicBezTo>
                  <a:lnTo>
                    <a:pt x="1678517" y="1823309"/>
                  </a:lnTo>
                  <a:cubicBezTo>
                    <a:pt x="1676168" y="1844823"/>
                    <a:pt x="1657998" y="1861118"/>
                    <a:pt x="1636356" y="1861118"/>
                  </a:cubicBezTo>
                  <a:lnTo>
                    <a:pt x="34107" y="1861118"/>
                  </a:lnTo>
                  <a:cubicBezTo>
                    <a:pt x="24417" y="1861118"/>
                    <a:pt x="15184" y="1856996"/>
                    <a:pt x="8715" y="1849782"/>
                  </a:cubicBezTo>
                  <a:cubicBezTo>
                    <a:pt x="2246" y="1842568"/>
                    <a:pt x="-850" y="1832942"/>
                    <a:pt x="202" y="1823309"/>
                  </a:cubicBezTo>
                  <a:lnTo>
                    <a:pt x="195146" y="37808"/>
                  </a:lnTo>
                  <a:cubicBezTo>
                    <a:pt x="197495" y="16295"/>
                    <a:pt x="215665" y="0"/>
                    <a:pt x="23730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101600" y="-38100"/>
              <a:ext cx="1678315" cy="18992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9258300"/>
            <a:ext cx="19007579" cy="4876938"/>
            <a:chOff x="0" y="0"/>
            <a:chExt cx="2375880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824" y="0"/>
              <a:ext cx="2362232" cy="609600"/>
            </a:xfrm>
            <a:custGeom>
              <a:avLst/>
              <a:gdLst/>
              <a:ahLst/>
              <a:cxnLst/>
              <a:rect r="r" b="b" t="t" l="l"/>
              <a:pathLst>
                <a:path h="609600" w="2362232">
                  <a:moveTo>
                    <a:pt x="220814" y="0"/>
                  </a:moveTo>
                  <a:lnTo>
                    <a:pt x="2344618" y="0"/>
                  </a:lnTo>
                  <a:cubicBezTo>
                    <a:pt x="2350280" y="0"/>
                    <a:pt x="2355596" y="2722"/>
                    <a:pt x="2358907" y="7315"/>
                  </a:cubicBezTo>
                  <a:cubicBezTo>
                    <a:pt x="2362218" y="11908"/>
                    <a:pt x="2363118" y="17813"/>
                    <a:pt x="2361328" y="23184"/>
                  </a:cubicBezTo>
                  <a:lnTo>
                    <a:pt x="2173584" y="586416"/>
                  </a:lnTo>
                  <a:cubicBezTo>
                    <a:pt x="2168969" y="600261"/>
                    <a:pt x="2156012" y="609600"/>
                    <a:pt x="2141418" y="609600"/>
                  </a:cubicBezTo>
                  <a:lnTo>
                    <a:pt x="17614" y="609600"/>
                  </a:lnTo>
                  <a:cubicBezTo>
                    <a:pt x="11952" y="609600"/>
                    <a:pt x="6636" y="606878"/>
                    <a:pt x="3325" y="602285"/>
                  </a:cubicBezTo>
                  <a:cubicBezTo>
                    <a:pt x="14" y="597692"/>
                    <a:pt x="-886" y="591787"/>
                    <a:pt x="904" y="586416"/>
                  </a:cubicBezTo>
                  <a:lnTo>
                    <a:pt x="188648" y="23184"/>
                  </a:lnTo>
                  <a:cubicBezTo>
                    <a:pt x="193263" y="9339"/>
                    <a:pt x="206220" y="0"/>
                    <a:pt x="2208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38100"/>
              <a:ext cx="217268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2106552"/>
            <a:ext cx="4967793" cy="496779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34033" t="0" r="-34033" b="0"/>
              </a:stretch>
            </a:blipFill>
            <a:ln w="381000" cap="sq">
              <a:gradFill>
                <a:gsLst>
                  <a:gs pos="0">
                    <a:srgbClr val="226214">
                      <a:alpha val="100000"/>
                    </a:srgbClr>
                  </a:gs>
                  <a:gs pos="100000">
                    <a:srgbClr val="43CC25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052965" y="836497"/>
            <a:ext cx="384406" cy="384406"/>
          </a:xfrm>
          <a:custGeom>
            <a:avLst/>
            <a:gdLst/>
            <a:ahLst/>
            <a:cxnLst/>
            <a:rect r="r" b="b" t="t" l="l"/>
            <a:pathLst>
              <a:path h="384406" w="384406">
                <a:moveTo>
                  <a:pt x="0" y="0"/>
                </a:moveTo>
                <a:lnTo>
                  <a:pt x="384405" y="0"/>
                </a:lnTo>
                <a:lnTo>
                  <a:pt x="384405" y="384406"/>
                </a:lnTo>
                <a:lnTo>
                  <a:pt x="0" y="3844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73299" y="850717"/>
            <a:ext cx="345637" cy="351346"/>
          </a:xfrm>
          <a:custGeom>
            <a:avLst/>
            <a:gdLst/>
            <a:ahLst/>
            <a:cxnLst/>
            <a:rect r="r" b="b" t="t" l="l"/>
            <a:pathLst>
              <a:path h="351346" w="345637">
                <a:moveTo>
                  <a:pt x="0" y="0"/>
                </a:moveTo>
                <a:lnTo>
                  <a:pt x="345637" y="0"/>
                </a:lnTo>
                <a:lnTo>
                  <a:pt x="345637" y="351346"/>
                </a:lnTo>
                <a:lnTo>
                  <a:pt x="0" y="35134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557999" y="828992"/>
            <a:ext cx="2916319" cy="342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8"/>
              </a:lnSpc>
            </a:pPr>
            <a:r>
              <a:rPr lang="en-US" b="true" sz="189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Formation QGIS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10322" y="3072364"/>
            <a:ext cx="7826905" cy="1936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39"/>
              </a:lnSpc>
            </a:pPr>
            <a:r>
              <a:rPr lang="en-US" b="true" sz="6672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Formation QGIS</a:t>
            </a:r>
          </a:p>
          <a:p>
            <a:pPr algn="l" marL="0" indent="0" lvl="0">
              <a:lnSpc>
                <a:spcPts val="7339"/>
              </a:lnSpc>
            </a:pPr>
            <a:r>
              <a:rPr lang="en-US" b="true" sz="6672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Niveau Débutant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10322" y="5547707"/>
            <a:ext cx="7536490" cy="9065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37"/>
              </a:lnSpc>
            </a:pPr>
            <a:r>
              <a:rPr lang="en-US" sz="3124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De la prise en main à la création d'atlas cartographiques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965066"/>
            <a:ext cx="1662550" cy="403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Accueil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08122" y="967280"/>
            <a:ext cx="1907082" cy="400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4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Programme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4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Modules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67826" y="816866"/>
            <a:ext cx="356785" cy="471297"/>
          </a:xfrm>
          <a:custGeom>
            <a:avLst/>
            <a:gdLst/>
            <a:ahLst/>
            <a:cxnLst/>
            <a:rect r="r" b="b" t="t" l="l"/>
            <a:pathLst>
              <a:path h="471297" w="356785">
                <a:moveTo>
                  <a:pt x="0" y="0"/>
                </a:moveTo>
                <a:lnTo>
                  <a:pt x="356785" y="0"/>
                </a:lnTo>
                <a:lnTo>
                  <a:pt x="356785" y="471297"/>
                </a:lnTo>
                <a:lnTo>
                  <a:pt x="0" y="4712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57999" y="838517"/>
            <a:ext cx="2916319" cy="307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49"/>
              </a:lnSpc>
            </a:pPr>
            <a:r>
              <a:rPr lang="en-US" b="true" sz="17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Formation QGIS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74645" y="2508434"/>
            <a:ext cx="4911031" cy="1148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20"/>
              </a:lnSpc>
            </a:pPr>
            <a:r>
              <a:rPr lang="en-US" sz="1657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Prise en main de l'interface QGIS et découverte des panneaux principaux. Exploration des concepts fondamentaux des Systèmes d'Information Géographique.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74645" y="4756516"/>
            <a:ext cx="4911031" cy="11485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20"/>
              </a:lnSpc>
            </a:pPr>
            <a:r>
              <a:rPr lang="en-US" sz="1657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Comprendre les systèmes de projection et leurs applications. Importer et gérer différents formats de données géographiques (Shapefile, GeoPackage, CSV).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74645" y="2146299"/>
            <a:ext cx="2937869" cy="291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20"/>
              </a:lnSpc>
            </a:pPr>
            <a:r>
              <a:rPr lang="en-US" b="true" sz="165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Introduction aux SIG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74645" y="4394381"/>
            <a:ext cx="2937869" cy="291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20"/>
              </a:lnSpc>
            </a:pPr>
            <a:r>
              <a:rPr lang="en-US" b="true" sz="165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Gestion des données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67826" y="2241549"/>
            <a:ext cx="472987" cy="472987"/>
            <a:chOff x="0" y="0"/>
            <a:chExt cx="82312" cy="823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2312" cy="82312"/>
            </a:xfrm>
            <a:custGeom>
              <a:avLst/>
              <a:gdLst/>
              <a:ahLst/>
              <a:cxnLst/>
              <a:rect r="r" b="b" t="t" l="l"/>
              <a:pathLst>
                <a:path h="82312" w="82312">
                  <a:moveTo>
                    <a:pt x="41156" y="0"/>
                  </a:moveTo>
                  <a:lnTo>
                    <a:pt x="41156" y="0"/>
                  </a:lnTo>
                  <a:cubicBezTo>
                    <a:pt x="52071" y="0"/>
                    <a:pt x="62539" y="4336"/>
                    <a:pt x="70258" y="12054"/>
                  </a:cubicBezTo>
                  <a:cubicBezTo>
                    <a:pt x="77976" y="19773"/>
                    <a:pt x="82312" y="30241"/>
                    <a:pt x="82312" y="41156"/>
                  </a:cubicBezTo>
                  <a:lnTo>
                    <a:pt x="82312" y="41156"/>
                  </a:lnTo>
                  <a:cubicBezTo>
                    <a:pt x="82312" y="52071"/>
                    <a:pt x="77976" y="62539"/>
                    <a:pt x="70258" y="70258"/>
                  </a:cubicBezTo>
                  <a:cubicBezTo>
                    <a:pt x="62539" y="77976"/>
                    <a:pt x="52071" y="82312"/>
                    <a:pt x="41156" y="82312"/>
                  </a:cubicBezTo>
                  <a:lnTo>
                    <a:pt x="41156" y="82312"/>
                  </a:lnTo>
                  <a:cubicBezTo>
                    <a:pt x="30241" y="82312"/>
                    <a:pt x="19773" y="77976"/>
                    <a:pt x="12054" y="70258"/>
                  </a:cubicBezTo>
                  <a:cubicBezTo>
                    <a:pt x="4336" y="62539"/>
                    <a:pt x="0" y="52071"/>
                    <a:pt x="0" y="41156"/>
                  </a:cubicBezTo>
                  <a:lnTo>
                    <a:pt x="0" y="41156"/>
                  </a:lnTo>
                  <a:cubicBezTo>
                    <a:pt x="0" y="30241"/>
                    <a:pt x="4336" y="19773"/>
                    <a:pt x="12054" y="12054"/>
                  </a:cubicBezTo>
                  <a:cubicBezTo>
                    <a:pt x="19773" y="4336"/>
                    <a:pt x="30241" y="0"/>
                    <a:pt x="411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296">
                    <a:alpha val="100000"/>
                  </a:srgbClr>
                </a:gs>
                <a:gs pos="100000">
                  <a:srgbClr val="2B79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82312" cy="1489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3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67826" y="4453439"/>
            <a:ext cx="472987" cy="472987"/>
            <a:chOff x="0" y="0"/>
            <a:chExt cx="82312" cy="8231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2312" cy="82312"/>
            </a:xfrm>
            <a:custGeom>
              <a:avLst/>
              <a:gdLst/>
              <a:ahLst/>
              <a:cxnLst/>
              <a:rect r="r" b="b" t="t" l="l"/>
              <a:pathLst>
                <a:path h="82312" w="82312">
                  <a:moveTo>
                    <a:pt x="41156" y="0"/>
                  </a:moveTo>
                  <a:lnTo>
                    <a:pt x="41156" y="0"/>
                  </a:lnTo>
                  <a:cubicBezTo>
                    <a:pt x="52071" y="0"/>
                    <a:pt x="62539" y="4336"/>
                    <a:pt x="70258" y="12054"/>
                  </a:cubicBezTo>
                  <a:cubicBezTo>
                    <a:pt x="77976" y="19773"/>
                    <a:pt x="82312" y="30241"/>
                    <a:pt x="82312" y="41156"/>
                  </a:cubicBezTo>
                  <a:lnTo>
                    <a:pt x="82312" y="41156"/>
                  </a:lnTo>
                  <a:cubicBezTo>
                    <a:pt x="82312" y="52071"/>
                    <a:pt x="77976" y="62539"/>
                    <a:pt x="70258" y="70258"/>
                  </a:cubicBezTo>
                  <a:cubicBezTo>
                    <a:pt x="62539" y="77976"/>
                    <a:pt x="52071" y="82312"/>
                    <a:pt x="41156" y="82312"/>
                  </a:cubicBezTo>
                  <a:lnTo>
                    <a:pt x="41156" y="82312"/>
                  </a:lnTo>
                  <a:cubicBezTo>
                    <a:pt x="30241" y="82312"/>
                    <a:pt x="19773" y="77976"/>
                    <a:pt x="12054" y="70258"/>
                  </a:cubicBezTo>
                  <a:cubicBezTo>
                    <a:pt x="4336" y="62539"/>
                    <a:pt x="0" y="52071"/>
                    <a:pt x="0" y="41156"/>
                  </a:cubicBezTo>
                  <a:lnTo>
                    <a:pt x="0" y="41156"/>
                  </a:lnTo>
                  <a:cubicBezTo>
                    <a:pt x="0" y="30241"/>
                    <a:pt x="4336" y="19773"/>
                    <a:pt x="12054" y="12054"/>
                  </a:cubicBezTo>
                  <a:cubicBezTo>
                    <a:pt x="19773" y="4336"/>
                    <a:pt x="30241" y="0"/>
                    <a:pt x="411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296">
                    <a:alpha val="100000"/>
                  </a:srgbClr>
                </a:gs>
                <a:gs pos="100000">
                  <a:srgbClr val="2B79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82312" cy="1489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166131" y="2231798"/>
            <a:ext cx="276378" cy="392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43"/>
              </a:lnSpc>
            </a:pPr>
            <a:r>
              <a:rPr lang="en-US" b="true" sz="2173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6131" y="4443687"/>
            <a:ext cx="276378" cy="392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43"/>
              </a:lnSpc>
            </a:pPr>
            <a:r>
              <a:rPr lang="en-US" b="true" sz="2173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67826" y="6619418"/>
            <a:ext cx="472987" cy="472987"/>
            <a:chOff x="0" y="0"/>
            <a:chExt cx="82312" cy="8231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2312" cy="82312"/>
            </a:xfrm>
            <a:custGeom>
              <a:avLst/>
              <a:gdLst/>
              <a:ahLst/>
              <a:cxnLst/>
              <a:rect r="r" b="b" t="t" l="l"/>
              <a:pathLst>
                <a:path h="82312" w="82312">
                  <a:moveTo>
                    <a:pt x="41156" y="0"/>
                  </a:moveTo>
                  <a:lnTo>
                    <a:pt x="41156" y="0"/>
                  </a:lnTo>
                  <a:cubicBezTo>
                    <a:pt x="52071" y="0"/>
                    <a:pt x="62539" y="4336"/>
                    <a:pt x="70258" y="12054"/>
                  </a:cubicBezTo>
                  <a:cubicBezTo>
                    <a:pt x="77976" y="19773"/>
                    <a:pt x="82312" y="30241"/>
                    <a:pt x="82312" y="41156"/>
                  </a:cubicBezTo>
                  <a:lnTo>
                    <a:pt x="82312" y="41156"/>
                  </a:lnTo>
                  <a:cubicBezTo>
                    <a:pt x="82312" y="52071"/>
                    <a:pt x="77976" y="62539"/>
                    <a:pt x="70258" y="70258"/>
                  </a:cubicBezTo>
                  <a:cubicBezTo>
                    <a:pt x="62539" y="77976"/>
                    <a:pt x="52071" y="82312"/>
                    <a:pt x="41156" y="82312"/>
                  </a:cubicBezTo>
                  <a:lnTo>
                    <a:pt x="41156" y="82312"/>
                  </a:lnTo>
                  <a:cubicBezTo>
                    <a:pt x="30241" y="82312"/>
                    <a:pt x="19773" y="77976"/>
                    <a:pt x="12054" y="70258"/>
                  </a:cubicBezTo>
                  <a:cubicBezTo>
                    <a:pt x="4336" y="62539"/>
                    <a:pt x="0" y="52071"/>
                    <a:pt x="0" y="41156"/>
                  </a:cubicBezTo>
                  <a:lnTo>
                    <a:pt x="0" y="41156"/>
                  </a:lnTo>
                  <a:cubicBezTo>
                    <a:pt x="0" y="30241"/>
                    <a:pt x="4336" y="19773"/>
                    <a:pt x="12054" y="12054"/>
                  </a:cubicBezTo>
                  <a:cubicBezTo>
                    <a:pt x="19773" y="4336"/>
                    <a:pt x="30241" y="0"/>
                    <a:pt x="411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296">
                    <a:alpha val="100000"/>
                  </a:srgbClr>
                </a:gs>
                <a:gs pos="100000">
                  <a:srgbClr val="2B79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66675"/>
              <a:ext cx="82312" cy="1489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3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393960" y="2193924"/>
            <a:ext cx="472987" cy="472987"/>
            <a:chOff x="0" y="0"/>
            <a:chExt cx="82312" cy="8231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2312" cy="82312"/>
            </a:xfrm>
            <a:custGeom>
              <a:avLst/>
              <a:gdLst/>
              <a:ahLst/>
              <a:cxnLst/>
              <a:rect r="r" b="b" t="t" l="l"/>
              <a:pathLst>
                <a:path h="82312" w="82312">
                  <a:moveTo>
                    <a:pt x="41156" y="0"/>
                  </a:moveTo>
                  <a:lnTo>
                    <a:pt x="41156" y="0"/>
                  </a:lnTo>
                  <a:cubicBezTo>
                    <a:pt x="52071" y="0"/>
                    <a:pt x="62539" y="4336"/>
                    <a:pt x="70258" y="12054"/>
                  </a:cubicBezTo>
                  <a:cubicBezTo>
                    <a:pt x="77976" y="19773"/>
                    <a:pt x="82312" y="30241"/>
                    <a:pt x="82312" y="41156"/>
                  </a:cubicBezTo>
                  <a:lnTo>
                    <a:pt x="82312" y="41156"/>
                  </a:lnTo>
                  <a:cubicBezTo>
                    <a:pt x="82312" y="52071"/>
                    <a:pt x="77976" y="62539"/>
                    <a:pt x="70258" y="70258"/>
                  </a:cubicBezTo>
                  <a:cubicBezTo>
                    <a:pt x="62539" y="77976"/>
                    <a:pt x="52071" y="82312"/>
                    <a:pt x="41156" y="82312"/>
                  </a:cubicBezTo>
                  <a:lnTo>
                    <a:pt x="41156" y="82312"/>
                  </a:lnTo>
                  <a:cubicBezTo>
                    <a:pt x="30241" y="82312"/>
                    <a:pt x="19773" y="77976"/>
                    <a:pt x="12054" y="70258"/>
                  </a:cubicBezTo>
                  <a:cubicBezTo>
                    <a:pt x="4336" y="62539"/>
                    <a:pt x="0" y="52071"/>
                    <a:pt x="0" y="41156"/>
                  </a:cubicBezTo>
                  <a:lnTo>
                    <a:pt x="0" y="41156"/>
                  </a:lnTo>
                  <a:cubicBezTo>
                    <a:pt x="0" y="30241"/>
                    <a:pt x="4336" y="19773"/>
                    <a:pt x="12054" y="12054"/>
                  </a:cubicBezTo>
                  <a:cubicBezTo>
                    <a:pt x="19773" y="4336"/>
                    <a:pt x="30241" y="0"/>
                    <a:pt x="411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296">
                    <a:alpha val="100000"/>
                  </a:srgbClr>
                </a:gs>
                <a:gs pos="100000">
                  <a:srgbClr val="2B79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66675"/>
              <a:ext cx="82312" cy="1489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3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200322" y="2662826"/>
            <a:ext cx="6103661" cy="781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96"/>
              </a:lnSpc>
            </a:pPr>
            <a:r>
              <a:rPr lang="en-US" sz="1497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Styles de symboles (catégorisé, gradué), étiquetage avancé, règles de représentation, création de légendes personnalisées, export de styles réutilisables.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6131" y="6600142"/>
            <a:ext cx="276378" cy="4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2"/>
              </a:lnSpc>
            </a:pPr>
            <a:r>
              <a:rPr lang="en-US" b="true" sz="235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492265" y="2174648"/>
            <a:ext cx="276378" cy="4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2"/>
              </a:lnSpc>
            </a:pPr>
            <a:r>
              <a:rPr lang="en-US" b="true" sz="235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41889" y="7012346"/>
            <a:ext cx="4843787" cy="1480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60"/>
              </a:lnSpc>
            </a:pPr>
            <a:r>
              <a:rPr lang="en-US" sz="1686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Sélections attributaires et spatiales, calculs de champs, jointures de tables, géotraitements de base (buffer, intersection, découpage), analyse thématique des données.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41889" y="6581318"/>
            <a:ext cx="5595279" cy="26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96"/>
              </a:lnSpc>
            </a:pPr>
            <a:r>
              <a:rPr lang="en-US" b="true" sz="149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Manipulation et analyse de données 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200322" y="2212748"/>
            <a:ext cx="3651323" cy="26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96"/>
              </a:lnSpc>
            </a:pPr>
            <a:r>
              <a:rPr lang="en-US" b="true" sz="149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Symbologie et analyse visuelle 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8393960" y="4442006"/>
            <a:ext cx="472987" cy="472987"/>
            <a:chOff x="0" y="0"/>
            <a:chExt cx="82312" cy="8231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312" cy="82312"/>
            </a:xfrm>
            <a:custGeom>
              <a:avLst/>
              <a:gdLst/>
              <a:ahLst/>
              <a:cxnLst/>
              <a:rect r="r" b="b" t="t" l="l"/>
              <a:pathLst>
                <a:path h="82312" w="82312">
                  <a:moveTo>
                    <a:pt x="41156" y="0"/>
                  </a:moveTo>
                  <a:lnTo>
                    <a:pt x="41156" y="0"/>
                  </a:lnTo>
                  <a:cubicBezTo>
                    <a:pt x="52071" y="0"/>
                    <a:pt x="62539" y="4336"/>
                    <a:pt x="70258" y="12054"/>
                  </a:cubicBezTo>
                  <a:cubicBezTo>
                    <a:pt x="77976" y="19773"/>
                    <a:pt x="82312" y="30241"/>
                    <a:pt x="82312" y="41156"/>
                  </a:cubicBezTo>
                  <a:lnTo>
                    <a:pt x="82312" y="41156"/>
                  </a:lnTo>
                  <a:cubicBezTo>
                    <a:pt x="82312" y="52071"/>
                    <a:pt x="77976" y="62539"/>
                    <a:pt x="70258" y="70258"/>
                  </a:cubicBezTo>
                  <a:cubicBezTo>
                    <a:pt x="62539" y="77976"/>
                    <a:pt x="52071" y="82312"/>
                    <a:pt x="41156" y="82312"/>
                  </a:cubicBezTo>
                  <a:lnTo>
                    <a:pt x="41156" y="82312"/>
                  </a:lnTo>
                  <a:cubicBezTo>
                    <a:pt x="30241" y="82312"/>
                    <a:pt x="19773" y="77976"/>
                    <a:pt x="12054" y="70258"/>
                  </a:cubicBezTo>
                  <a:cubicBezTo>
                    <a:pt x="4336" y="62539"/>
                    <a:pt x="0" y="52071"/>
                    <a:pt x="0" y="41156"/>
                  </a:cubicBezTo>
                  <a:lnTo>
                    <a:pt x="0" y="41156"/>
                  </a:lnTo>
                  <a:cubicBezTo>
                    <a:pt x="0" y="30241"/>
                    <a:pt x="4336" y="19773"/>
                    <a:pt x="12054" y="12054"/>
                  </a:cubicBezTo>
                  <a:cubicBezTo>
                    <a:pt x="19773" y="4336"/>
                    <a:pt x="30241" y="0"/>
                    <a:pt x="411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D1296">
                    <a:alpha val="100000"/>
                  </a:srgbClr>
                </a:gs>
                <a:gs pos="100000">
                  <a:srgbClr val="2B79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66675"/>
              <a:ext cx="82312" cy="1489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33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9144000" y="4978481"/>
            <a:ext cx="6782240" cy="873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30"/>
              </a:lnSpc>
            </a:pPr>
            <a:r>
              <a:rPr lang="en-US" sz="1664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Styles de symboles (catégorisé, gradué), étiquetage avancé, règles de représentation, création de légendes personnalisées, export de styles réutilisables.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492265" y="4422730"/>
            <a:ext cx="276378" cy="854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02"/>
              </a:lnSpc>
            </a:pPr>
            <a:r>
              <a:rPr lang="en-US" b="true" sz="235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5</a:t>
            </a:r>
            <a:r>
              <a:rPr lang="en-US" b="true" sz="235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200322" y="4460830"/>
            <a:ext cx="3651323" cy="26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96"/>
              </a:lnSpc>
            </a:pPr>
            <a:r>
              <a:rPr lang="en-US" b="true" sz="149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Mise en pa</a:t>
            </a:r>
            <a:r>
              <a:rPr lang="en-US" b="true" sz="1497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ge et création d'atlas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0" y="965066"/>
            <a:ext cx="1662550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4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Accueil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408122" y="967280"/>
            <a:ext cx="1907082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Programme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4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Modules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0" y="9258300"/>
            <a:ext cx="19007579" cy="4876938"/>
            <a:chOff x="0" y="0"/>
            <a:chExt cx="2375880" cy="6096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6824" y="0"/>
              <a:ext cx="2362232" cy="609600"/>
            </a:xfrm>
            <a:custGeom>
              <a:avLst/>
              <a:gdLst/>
              <a:ahLst/>
              <a:cxnLst/>
              <a:rect r="r" b="b" t="t" l="l"/>
              <a:pathLst>
                <a:path h="609600" w="2362232">
                  <a:moveTo>
                    <a:pt x="220814" y="0"/>
                  </a:moveTo>
                  <a:lnTo>
                    <a:pt x="2344618" y="0"/>
                  </a:lnTo>
                  <a:cubicBezTo>
                    <a:pt x="2350280" y="0"/>
                    <a:pt x="2355596" y="2722"/>
                    <a:pt x="2358907" y="7315"/>
                  </a:cubicBezTo>
                  <a:cubicBezTo>
                    <a:pt x="2362218" y="11908"/>
                    <a:pt x="2363118" y="17813"/>
                    <a:pt x="2361328" y="23184"/>
                  </a:cubicBezTo>
                  <a:lnTo>
                    <a:pt x="2173584" y="586416"/>
                  </a:lnTo>
                  <a:cubicBezTo>
                    <a:pt x="2168969" y="600261"/>
                    <a:pt x="2156012" y="609600"/>
                    <a:pt x="2141418" y="609600"/>
                  </a:cubicBezTo>
                  <a:lnTo>
                    <a:pt x="17614" y="609600"/>
                  </a:lnTo>
                  <a:cubicBezTo>
                    <a:pt x="11952" y="609600"/>
                    <a:pt x="6636" y="606878"/>
                    <a:pt x="3325" y="602285"/>
                  </a:cubicBezTo>
                  <a:cubicBezTo>
                    <a:pt x="14" y="597692"/>
                    <a:pt x="-886" y="591787"/>
                    <a:pt x="904" y="586416"/>
                  </a:cubicBezTo>
                  <a:lnTo>
                    <a:pt x="188648" y="23184"/>
                  </a:lnTo>
                  <a:cubicBezTo>
                    <a:pt x="193263" y="9339"/>
                    <a:pt x="206220" y="0"/>
                    <a:pt x="2208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58000"/>
                  </a:srgbClr>
                </a:gs>
                <a:gs pos="100000">
                  <a:srgbClr val="43CC25">
                    <a:alpha val="58000"/>
                  </a:srgbClr>
                </a:gs>
              </a:gsLst>
              <a:lin ang="5400000"/>
            </a:gradFill>
          </p:spPr>
        </p:sp>
        <p:sp>
          <p:nvSpPr>
            <p:cNvPr name="TextBox 39" id="39"/>
            <p:cNvSpPr txBox="true"/>
            <p:nvPr/>
          </p:nvSpPr>
          <p:spPr>
            <a:xfrm>
              <a:off x="101600" y="-38100"/>
              <a:ext cx="217268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2419921"/>
            <a:ext cx="7724541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Qu'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est-ce qu'un SIG ?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3729316"/>
            <a:ext cx="14324894" cy="39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Système d'Inform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ation Géographique</a:t>
            </a:r>
          </a:p>
          <a:p>
            <a:pPr algn="just" marL="539446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Collecte, stockage, manipulation, analyse et restitution de données géographiques</a:t>
            </a:r>
          </a:p>
          <a:p>
            <a:pPr algn="just" marL="539446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Lien objet spatial ↔ base de données attributaire</a:t>
            </a:r>
          </a:p>
          <a:p>
            <a:pPr algn="just" marL="539446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Cas d'usage agents: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Cartographier les travaux de voirie et consulter l'état d'avancement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Gérer les réseaux d'eau avec caractéristiques des canalisation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Suivre les dossiers de permis de construire par parcelle</a:t>
            </a:r>
          </a:p>
          <a:p>
            <a:pPr algn="just" marL="0" indent="0" lvl="0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Différence avec carte papier: Interactivité, analyse, mise à jour continue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Module 1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258300"/>
            <a:ext cx="19007579" cy="4876938"/>
            <a:chOff x="0" y="0"/>
            <a:chExt cx="2375880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824" y="0"/>
              <a:ext cx="2362232" cy="609600"/>
            </a:xfrm>
            <a:custGeom>
              <a:avLst/>
              <a:gdLst/>
              <a:ahLst/>
              <a:cxnLst/>
              <a:rect r="r" b="b" t="t" l="l"/>
              <a:pathLst>
                <a:path h="609600" w="2362232">
                  <a:moveTo>
                    <a:pt x="220814" y="0"/>
                  </a:moveTo>
                  <a:lnTo>
                    <a:pt x="2344618" y="0"/>
                  </a:lnTo>
                  <a:cubicBezTo>
                    <a:pt x="2350280" y="0"/>
                    <a:pt x="2355596" y="2722"/>
                    <a:pt x="2358907" y="7315"/>
                  </a:cubicBezTo>
                  <a:cubicBezTo>
                    <a:pt x="2362218" y="11908"/>
                    <a:pt x="2363118" y="17813"/>
                    <a:pt x="2361328" y="23184"/>
                  </a:cubicBezTo>
                  <a:lnTo>
                    <a:pt x="2173584" y="586416"/>
                  </a:lnTo>
                  <a:cubicBezTo>
                    <a:pt x="2168969" y="600261"/>
                    <a:pt x="2156012" y="609600"/>
                    <a:pt x="2141418" y="609600"/>
                  </a:cubicBezTo>
                  <a:lnTo>
                    <a:pt x="17614" y="609600"/>
                  </a:lnTo>
                  <a:cubicBezTo>
                    <a:pt x="11952" y="609600"/>
                    <a:pt x="6636" y="606878"/>
                    <a:pt x="3325" y="602285"/>
                  </a:cubicBezTo>
                  <a:cubicBezTo>
                    <a:pt x="14" y="597692"/>
                    <a:pt x="-886" y="591787"/>
                    <a:pt x="904" y="586416"/>
                  </a:cubicBezTo>
                  <a:lnTo>
                    <a:pt x="188648" y="23184"/>
                  </a:lnTo>
                  <a:cubicBezTo>
                    <a:pt x="193263" y="9339"/>
                    <a:pt x="206220" y="0"/>
                    <a:pt x="2208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9000"/>
                  </a:srgbClr>
                </a:gs>
                <a:gs pos="100000">
                  <a:srgbClr val="43CC25">
                    <a:alpha val="19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38100"/>
              <a:ext cx="217268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3729316"/>
            <a:ext cx="14324894" cy="5260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Mode Vecteur: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Points: M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airie, borne incendie, captage (coordonnées X,Y)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Lignes: Route, cours d'eau, canalisation (succession de sommets)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olygones: Parcelle, zone inondable, bâtiment (surface fermée)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de Raster: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rille de pixels avec valeur par cellule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Orthophoto: Photographie aérienne redressée (20cm IGN)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MNT: Modèle Numérique de Terrain (altitude en mètres par pixel)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Règle pratique: Les deux coexistent dans un même projet QGIS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0" y="9258300"/>
            <a:ext cx="19007579" cy="4876938"/>
            <a:chOff x="0" y="0"/>
            <a:chExt cx="2375880" cy="6096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6824" y="0"/>
              <a:ext cx="2362232" cy="609600"/>
            </a:xfrm>
            <a:custGeom>
              <a:avLst/>
              <a:gdLst/>
              <a:ahLst/>
              <a:cxnLst/>
              <a:rect r="r" b="b" t="t" l="l"/>
              <a:pathLst>
                <a:path h="609600" w="2362232">
                  <a:moveTo>
                    <a:pt x="220814" y="0"/>
                  </a:moveTo>
                  <a:lnTo>
                    <a:pt x="2344618" y="0"/>
                  </a:lnTo>
                  <a:cubicBezTo>
                    <a:pt x="2350280" y="0"/>
                    <a:pt x="2355596" y="2722"/>
                    <a:pt x="2358907" y="7315"/>
                  </a:cubicBezTo>
                  <a:cubicBezTo>
                    <a:pt x="2362218" y="11908"/>
                    <a:pt x="2363118" y="17813"/>
                    <a:pt x="2361328" y="23184"/>
                  </a:cubicBezTo>
                  <a:lnTo>
                    <a:pt x="2173584" y="586416"/>
                  </a:lnTo>
                  <a:cubicBezTo>
                    <a:pt x="2168969" y="600261"/>
                    <a:pt x="2156012" y="609600"/>
                    <a:pt x="2141418" y="609600"/>
                  </a:cubicBezTo>
                  <a:lnTo>
                    <a:pt x="17614" y="609600"/>
                  </a:lnTo>
                  <a:cubicBezTo>
                    <a:pt x="11952" y="609600"/>
                    <a:pt x="6636" y="606878"/>
                    <a:pt x="3325" y="602285"/>
                  </a:cubicBezTo>
                  <a:cubicBezTo>
                    <a:pt x="14" y="597692"/>
                    <a:pt x="-886" y="591787"/>
                    <a:pt x="904" y="586416"/>
                  </a:cubicBezTo>
                  <a:lnTo>
                    <a:pt x="188648" y="23184"/>
                  </a:lnTo>
                  <a:cubicBezTo>
                    <a:pt x="193263" y="9339"/>
                    <a:pt x="206220" y="0"/>
                    <a:pt x="2208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5000"/>
                  </a:srgbClr>
                </a:gs>
                <a:gs pos="100000">
                  <a:srgbClr val="43CC25">
                    <a:alpha val="5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101600" y="-38100"/>
              <a:ext cx="217268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833722" y="2419921"/>
            <a:ext cx="7724541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Mod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 Vecteur vs Raster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213851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erface QGIS - Les essentiels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399091"/>
            <a:ext cx="14324894" cy="7451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Panneau Couches: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Liste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et ordre d'affichage des couches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L'ordre dans le panneau = ordre d'affichage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Règle d'or: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olygones SOUS lignes SOUS points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Panneau Explorateur: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Nav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igation dans fichiers et connexions aux sources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Glisser-déposer pour ajouter des couches instantanément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Barres d'outils: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Navigation (zoom, déplacement): Z, X, molette souris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Sélection: par clic, rectangle, polygone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Édition: mode édition (crayon) pour modifier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Barre de statut: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Coordonnées curseur, échelle, SCR actif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213851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Install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ation et versions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399091"/>
            <a:ext cx="14324894" cy="5699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Version LTR (Long Term Release):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Maintenue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et corrigée pendant 1 an minimum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Recommandée pour les environnements professionnels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abilité garantie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Version courante: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Nouvelles fonc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tionnalités toutes les 4 mois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Plus susceptible de régressions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Pou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utilisateurs avancés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Installation Windows: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Installeur standalone (recommandé)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088538" y="692325"/>
            <a:ext cx="5275969" cy="1007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745"/>
              </a:lnSpc>
            </a:pPr>
            <a:r>
              <a:rPr lang="en-US" b="true" sz="7753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Exercice 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81553" y="2698793"/>
            <a:ext cx="14324894" cy="482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Prise en main et exploration d'un jeu de données communal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un proj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et QGIS fourni contenant les limites communales d'un département, un réseau routier et une couche de points (mairies). Explorer l'interface et identifier chaque panneau.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le projet .qgz fourn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 par le formateur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Identifier les types de couches (vecteur/raster) dans le panneau Couches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Utiliser le zoom et la navigation 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explorer le territoire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la table d'attributs de la couche communes et identifier les champs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Changer l'ordre des couches pour modifier l'affichage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550841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Gest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ion des données et projections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707506"/>
            <a:ext cx="14324894" cy="7405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38"/>
              </a:lnSpc>
            </a:pPr>
            <a:r>
              <a:rPr lang="en-US" sz="30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Formats de fichiers principaux</a:t>
            </a:r>
          </a:p>
          <a:p>
            <a:pPr algn="just">
              <a:lnSpc>
                <a:spcPts val="433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Shapefile (.shp):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Format historique, très répandu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Plusieurs fichi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ers obligatoires: .shp, .dbf, .shx, .prj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Limites: nom de champ 10 caractères, 2 Go max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G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eoPackage (.gpkg):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Format moderne recommandé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Un seul fichier contenant plusieurs couches vecteur/raster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Pas de limite de nom de champ, 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as de limite de taille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Service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 web:</a:t>
            </a:r>
          </a:p>
          <a:p>
            <a:pPr algn="just" marL="409910" indent="-204955" lvl="1">
              <a:lnSpc>
                <a:spcPts val="2658"/>
              </a:lnSpc>
              <a:buFont typeface="Arial"/>
              <a:buChar char="•"/>
            </a:pPr>
            <a:r>
              <a:rPr lang="en-US" sz="18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WMS: Images de carte (fond de plan IGN) https://data.geopf.fr/wmts?SERVICE=WMTS&amp;VERSION=1.0.0&amp;REQUEST=GetCapabilities</a:t>
            </a:r>
          </a:p>
          <a:p>
            <a:pPr algn="just" marL="453089" indent="-226544" lvl="1">
              <a:lnSpc>
                <a:spcPts val="2938"/>
              </a:lnSpc>
              <a:buFont typeface="Arial"/>
              <a:buChar char="•"/>
            </a:pPr>
            <a:r>
              <a:rPr lang="en-US" sz="20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WFS: Données téléchargeables et interrogeables: https://data.geopf.fr/wfs/ows?VERSION=2.0.0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Module 2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213851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Import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 de données CSV/TXT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399091"/>
            <a:ext cx="14324894" cy="5260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Étapes clés: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Vérifier le séparateur: virgule, point-virgule, tabulation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Identifier 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 colonnes X/Y: longitude/Easting, latitude/Northing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Choisir le SCR source: EPSG:3949(MANCHE) ou EPSG:2154 (Lambert 93)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Gérer l'encodage: UTF-8 (moderne) vs LATIN-1 (ancien)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Vérifier la géométrie: poin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ts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bien placés sur la carte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roblèmes courants: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Colonnes X/Y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inversées → points en mer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uvais SCR → décalage imp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rtant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Mauvais encodage → caractères bizarres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213851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Systèmes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 de coordonnées essentiels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399091"/>
            <a:ext cx="14324894" cy="7451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Codes EPSG à retenir: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EPSG:2154 - Lambert 93 (projection officielle France)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Coor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données en mètr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X: 100 000 à 1 300 000, Y: 6 000 000 à 7 200 000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EPSG:4326 - WGS84 (GPS)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Coordonnées en degrés décimaux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Longitude: -1.09, Latitude: 49.11 (Saint-Lô)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EPSG:3857 - Web Mercator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Google Maps, OpenStreetMap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Ne PAS calculer distances/surfaces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EPSG:3949 - UTM Zone 31N</a:t>
            </a:r>
          </a:p>
          <a:p>
            <a:pPr algn="just" marL="1078893" indent="-359631" lvl="2">
              <a:lnSpc>
                <a:spcPts val="3498"/>
              </a:lnSpc>
              <a:buFont typeface="Arial"/>
              <a:buChar char="⚬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Projection 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tilisé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 pour la Manche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Rep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rojection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À la volée: QGIS al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igne automatiquement (visualisation)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Permanente: Exp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rter dans nouveau SCR (calculs)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12541" y="692325"/>
            <a:ext cx="6651965" cy="1001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742"/>
              </a:lnSpc>
            </a:pPr>
            <a:r>
              <a:rPr lang="en-US" b="true" sz="7749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Exercice 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81553" y="2917863"/>
            <a:ext cx="14324894" cy="4384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Import d'un fichier CSV de points de suivi de travaux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Importer un fichier 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exte contenant des coordonnées GPS de chantiers, vérifier l'encodage et le SCR, puis reprojeter en 3949.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le CSV dans un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éditeur texte pour identifier le séparateur et l'encodage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Importer via Couche &gt; Ajouter une couche de texte délimité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Vérifier que les points s'affichent au bon endroit sur la carte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Exporter la couche en GeoPackage dans le SCR EPSG:3949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2499078"/>
            <a:ext cx="15425578" cy="56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Table</a:t>
            </a: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 d'attributs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3285908"/>
            <a:ext cx="14324894" cy="6137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Fonctionnalités essentielles: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(F6): Chaque ligne = un objet géographique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Sélection par formulaire: Filtre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selon critèr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Tri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et recherche: Trier par colonne, rechercher rapidement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Mode édition (crayon): Modifier, ajouter, supprimer des attributs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Raccourcis clés: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F6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 Ouvrir la table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rl+E: Activer mode éd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iti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on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Ctrl+S: Sauvegard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les modifications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Ctrl+clic: Sélect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ion multiple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Astuce: Cliquer sur une ligne sélectionne l'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obj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et sur la carte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3722" y="1646866"/>
            <a:ext cx="15425578" cy="137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Manipul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ation et analyse de données</a:t>
            </a:r>
          </a:p>
          <a:p>
            <a:pPr algn="l" marL="0" indent="0" lvl="0">
              <a:lnSpc>
                <a:spcPts val="5230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Module 3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686270"/>
            <a:ext cx="15425578" cy="1081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Calculateur</a:t>
            </a: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 de champs</a:t>
            </a:r>
          </a:p>
          <a:p>
            <a:pPr algn="l" marL="0" indent="0" lvl="0">
              <a:lnSpc>
                <a:spcPts val="4053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454050"/>
            <a:ext cx="14324894" cy="6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8"/>
              </a:lnSpc>
            </a:pPr>
            <a:r>
              <a:rPr lang="en-US" sz="27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Créer des champs calculés automatiquement:</a:t>
            </a: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Expressions géométriques: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$area / 10000 → Surface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en hectar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$l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ength → Longueur en mètres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$x, $y → Coordonnées du centroïde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Expressions texte: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upper("nom") → Majuscules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concat("prénom", ' ', "nom") → Concaténation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left("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code", 2) → Premiers caractères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ressions cond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iti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onnelles: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if("su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rface" &gt; 10000, 'Grand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e',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'Petite')</a:t>
            </a: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sélect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ion uniquement: Cocher "Mettre à jour uniquement les entités sélectionnées"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686270"/>
            <a:ext cx="15425578" cy="56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Jointur</a:t>
            </a: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es attributaires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2473100"/>
            <a:ext cx="14324894" cy="7013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Principe: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Relier une couche géo à un tableau via identifiant commun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Expressions géométriques: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Étapes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Vérifier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 champ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commun: Mêmes valeurs, même format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Configurer: Clic droit &gt; Propriétés &gt; Jointu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&gt; "+"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Déf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Couche à joindre, champ source, champ cible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alider: Vérifier les champs joints dans la table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Gesti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on des NULL: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NULL = aucune correspondance trouvée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Causes: espaces, caractères diffé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, type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inco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mpa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b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Sol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utio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n: nettoye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 les d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onnées avant jointure</a:t>
            </a:r>
          </a:p>
          <a:p>
            <a:pPr algn="just" marL="0" indent="0" lvl="0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Rendre permanente: Exporter la couche pour figer les champs joints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038225"/>
            <a:ext cx="15425578" cy="56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Géotraitements </a:t>
            </a: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essentiels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1825055"/>
            <a:ext cx="14324894" cy="7451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Zone tampon (Buffer):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Crée une zone de X mètres autour d'objets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Applicat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ions: servitude 35m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cours d'eau, périmètre protection 500m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Découpage (Clip):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Extrait partie d'une couche dans une emprise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App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lications: routes d'une commune, parcelles d'un secteur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Int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ersecti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on: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Combine deux couches avec attributs des deux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Applications: parcelles en zone de servitude avec infos proprié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tair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B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oîte à o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utils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 (Ct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rl+Alt+T):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Accès à 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ous les algorithmes QGIS/GDAL/GRASS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Recherche par mot-clé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Historique des outils récents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62763" y="1200150"/>
            <a:ext cx="6651965" cy="1001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742"/>
              </a:lnSpc>
            </a:pPr>
            <a:r>
              <a:rPr lang="en-US" b="true" sz="7749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Exercice 3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81553" y="2698793"/>
            <a:ext cx="14324894" cy="5260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Jointure et calcul : superficie des parcelles par propriétaire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Joindre un tabl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eau Excel de propriétaires à une couche parcellaire, calculer la superficie en hectares et sélectionner les parcelles supérieures à 5 ha.</a:t>
            </a: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Installer l’extension spreadsheet layers.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Configurer la jointure dans Parcelles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&gt; Jointures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Vérifier les champs joints dans la table d'attributs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Ouvrir le calculateur de champs, créer le champ "superficie_ha" avec $area / 10000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Filtrer par expression pour sélectionner les parcelles &gt; 5 ha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Exporter la sélection en nouvelle couche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2499078"/>
            <a:ext cx="15425578" cy="56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Représentation</a:t>
            </a: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 cartographique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3133132"/>
            <a:ext cx="12610569" cy="6943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79"/>
              </a:lnSpc>
            </a:pPr>
            <a:r>
              <a:rPr lang="en-US" sz="2199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Symbole unique: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Un style pour tous les objets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Couleur, contour, épaisseu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r, 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opacité</a:t>
            </a:r>
          </a:p>
          <a:p>
            <a:pPr algn="just">
              <a:lnSpc>
                <a:spcPts val="3079"/>
              </a:lnSpc>
            </a:pPr>
          </a:p>
          <a:p>
            <a:pPr algn="just" marL="0" indent="0" lvl="0">
              <a:lnSpc>
                <a:spcPts val="3079"/>
              </a:lnSpc>
            </a:pP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Ca</a:t>
            </a: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</a:t>
            </a: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te catégorisée: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Une couleur par catégorie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Champ: type d'OCS, statut, propriétaire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Utiliser palettes ColorBrewer qualitatives</a:t>
            </a:r>
          </a:p>
          <a:p>
            <a:pPr algn="just">
              <a:lnSpc>
                <a:spcPts val="3079"/>
              </a:lnSpc>
            </a:pPr>
          </a:p>
          <a:p>
            <a:pPr algn="just">
              <a:lnSpc>
                <a:spcPts val="3079"/>
              </a:lnSpc>
            </a:pP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</a:t>
            </a: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arte graduée: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Dég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radé selon valeur numérique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Méthodes: Quan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tiles, Je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nks (ruptures natur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elles)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Maximum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5 classes pour lisibilité</a:t>
            </a:r>
          </a:p>
          <a:p>
            <a:pPr algn="just">
              <a:lnSpc>
                <a:spcPts val="3079"/>
              </a:lnSpc>
            </a:pPr>
          </a:p>
          <a:p>
            <a:pPr algn="just">
              <a:lnSpc>
                <a:spcPts val="3079"/>
              </a:lnSpc>
            </a:pP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Visibi</a:t>
            </a: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lité par éche</a:t>
            </a:r>
            <a:r>
              <a:rPr lang="en-US" b="true" sz="219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lle: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Afficher/masquer selon niveau de zoom</a:t>
            </a:r>
          </a:p>
          <a:p>
            <a:pPr algn="just" marL="474889" indent="-237444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Améliore perf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ormances </a:t>
            </a:r>
            <a:r>
              <a:rPr lang="en-US" sz="2199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et lisibilité</a:t>
            </a:r>
          </a:p>
          <a:p>
            <a:pPr algn="just" marL="0" indent="0" lvl="0">
              <a:lnSpc>
                <a:spcPts val="3079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3722" y="1646866"/>
            <a:ext cx="15425578" cy="718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Symbol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ogie et analyse visuelle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Module 4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038225"/>
            <a:ext cx="15425578" cy="1081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Étiquetage </a:t>
            </a: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efficace</a:t>
            </a:r>
          </a:p>
          <a:p>
            <a:pPr algn="l" marL="0" indent="0" lvl="0">
              <a:lnSpc>
                <a:spcPts val="4053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1825055"/>
            <a:ext cx="14324894" cy="74515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Activation et mise en forme: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Prop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riétés &gt; Étiquettes &gt; Champ source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lice, ta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ille,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couleur du texte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H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alo blanc: Contour pour lisibilité sur tous fonds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Placement au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t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omatique: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QGIS place automatiquement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Gère les collisions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Expressions d'étiquettes: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concat("NOM", '\n(', round("SURFACE_HA", 1), ' h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a)')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if("STATUT"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= 'En co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urs',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upper("NOM"), "NOM"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Ast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uces: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Visibilité par échelle pour éviter surcharge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\n dans expressions = saut de ligne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62763" y="1200150"/>
            <a:ext cx="6651965" cy="1001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742"/>
              </a:lnSpc>
            </a:pPr>
            <a:r>
              <a:rPr lang="en-US" b="true" sz="7749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Exercice 4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81553" y="2698793"/>
            <a:ext cx="14324894" cy="4384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Créer une carte catégorisée d'une couche des travaux 2026 avec des étiquettes de communes, sur fond OpenStreetMap.</a:t>
            </a:r>
          </a:p>
          <a:p>
            <a:pPr algn="just">
              <a:lnSpc>
                <a:spcPts val="3498"/>
              </a:lnSpc>
            </a:pP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jouter un fond OSM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Paramétrer la symb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ologie ca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tégorisée sur le champ "eu_ep_aep"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Appliquer une rampe de couleurs et ajuster l'opacité des polygones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Activer les étiquettes communes avec halo blanc pour la lisibilité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2499078"/>
            <a:ext cx="15425578" cy="1081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Composeur</a:t>
            </a:r>
            <a:r>
              <a:rPr lang="en-US" b="true" sz="378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 d'impression</a:t>
            </a:r>
          </a:p>
          <a:p>
            <a:pPr algn="l" marL="0" indent="0" lvl="0">
              <a:lnSpc>
                <a:spcPts val="4053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3285908"/>
            <a:ext cx="14324894" cy="6575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Création (Ctrl+P):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Espace de composition indépendant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Format A4/A3, orientation, résolution (300 DPI impression)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Élément Cart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Emp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ris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e, échelle, grille de coordonnées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Échelles normalisées: 1:5000, 1:10000, 1:25000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Règl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es TOLE (obligatoires):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Titre: Descriptif, daté si nécessaire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Orienta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tion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 Flèche Nord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Légende: Symboles expliqués, un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ités précisées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Éche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lle: Barre graphiqu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 (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reste co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rrecte 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 photocopiée)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So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urce: Auteur, organisme, date données, pr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oj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ection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3722" y="1646866"/>
            <a:ext cx="15425578" cy="7188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230"/>
              </a:lnSpc>
            </a:pP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Mise</a:t>
            </a:r>
            <a:r>
              <a:rPr lang="en-US" b="true" sz="48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 en page et création d'atlas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726729" y="943100"/>
            <a:ext cx="1916881" cy="4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49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Module 5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33722" y="1038225"/>
            <a:ext cx="15425578" cy="56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53"/>
              </a:lnSpc>
            </a:pPr>
            <a:r>
              <a:rPr lang="en-US" b="true" sz="378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Atlas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33722" y="1825055"/>
            <a:ext cx="14324894" cy="6575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Principe: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Générer automatiquement N fiches cartographiques depuis une couche de couverture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Conf</a:t>
            </a: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iguration: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Activer Atlas: Panneau Atlas &gt; Générer un atlas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Couche de couverture: C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ommun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es, parce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lles,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secteurs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Nom de page: Champ pour le nom de chaque fiche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Paramètres zoom: Marge autour entité ou échelle fixe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Va</a:t>
            </a: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riables dynamiques: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[% @atlas_pagename %] → Nom de l'entité courante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[% "NOM_COMMUNE" %] → Valeur d'un ch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amp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[% concat("Fiche N°",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@atlas_feat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uren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umber, "/", @a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las_totalfeatures) %]</a:t>
            </a:r>
          </a:p>
          <a:p>
            <a:pPr algn="just">
              <a:lnSpc>
                <a:spcPts val="3498"/>
              </a:lnSpc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Légende dynamique: "Uniquement les entités dans la carte"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27304" y="754444"/>
            <a:ext cx="15425578" cy="1081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3"/>
              </a:lnSpc>
            </a:pPr>
            <a:r>
              <a:rPr lang="en-US" sz="3788" b="true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Export et partage</a:t>
            </a:r>
          </a:p>
          <a:p>
            <a:pPr algn="l" marL="0" indent="0" lvl="0">
              <a:lnSpc>
                <a:spcPts val="4053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27304" y="1541274"/>
            <a:ext cx="14324894" cy="8327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Export PDF: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Haute résolution (300 DPI)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Format officiel pour rapports administratifs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Comp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ression activée pour réduire taille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</a:t>
            </a: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ort image (PNG/JPEG):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PNG: Sans perte, 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our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cart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es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avec textes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JPEG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: Compressé, pour e-mails et documents Word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Résolution: 150 DPI écran, 300 DPI impression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Export SVG: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Format vectoriel pour édition graphique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Comp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at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ible Inkscape/Illustrator</a:t>
            </a:r>
          </a:p>
          <a:p>
            <a:pPr algn="just">
              <a:lnSpc>
                <a:spcPts val="3498"/>
              </a:lnSpc>
            </a:pPr>
          </a:p>
          <a:p>
            <a:pPr algn="just" marL="0" indent="0" lvl="0">
              <a:lnSpc>
                <a:spcPts val="3498"/>
              </a:lnSpc>
            </a:pPr>
            <a:r>
              <a:rPr lang="en-US" b="true" sz="2498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Partage projet: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.qgz + données liées dans arch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ive ZIP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Ou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 GeoPackage 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uniq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ue contenant toutes les couches</a:t>
            </a:r>
          </a:p>
          <a:p>
            <a:pPr algn="just" marL="539447" indent="-269723" lvl="1">
              <a:lnSpc>
                <a:spcPts val="3498"/>
              </a:lnSpc>
              <a:buFont typeface="Arial"/>
              <a:buChar char="•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Chemins relatifs activés pour portabilité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62763" y="1200150"/>
            <a:ext cx="6651965" cy="1001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742"/>
              </a:lnSpc>
            </a:pPr>
            <a:r>
              <a:rPr lang="en-US" b="true" sz="7749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Exercice 5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81553" y="2460406"/>
            <a:ext cx="14324894" cy="5699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8"/>
              </a:lnSpc>
            </a:pPr>
            <a:r>
              <a:rPr lang="en-US" sz="2498" b="true">
                <a:solidFill>
                  <a:srgbClr val="1D4ABD"/>
                </a:solidFill>
                <a:latin typeface="Poppins Bold"/>
                <a:ea typeface="Poppins Bold"/>
                <a:cs typeface="Poppins Bold"/>
                <a:sym typeface="Poppins Bold"/>
              </a:rPr>
              <a:t>Produire un atlas de N fiches cartographiques (une par commune) affichant les travaux en cours, les réseaux d'eau et les parcelles concernées, avec titre dynamique et légende.</a:t>
            </a:r>
          </a:p>
          <a:p>
            <a:pPr algn="just">
              <a:lnSpc>
                <a:spcPts val="3498"/>
              </a:lnSpc>
            </a:pP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Cré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er une mise en page avec tous les éléments TOLE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Configurer l'atlas sur la couche communes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Paramétrer le titre dynam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ique avec la va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riable @atlas_pagename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Prévisua</a:t>
            </a: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liser les fiches et corriger les débordements d'étiquettes</a:t>
            </a:r>
          </a:p>
          <a:p>
            <a:pPr algn="just" marL="539447" indent="-269723" lvl="1">
              <a:lnSpc>
                <a:spcPts val="3498"/>
              </a:lnSpc>
              <a:buAutoNum type="arabicPeriod" startAt="1"/>
            </a:pPr>
            <a:r>
              <a:rPr lang="en-US" sz="2498">
                <a:solidFill>
                  <a:srgbClr val="1D4ABD"/>
                </a:solidFill>
                <a:latin typeface="Poppins"/>
                <a:ea typeface="Poppins"/>
                <a:cs typeface="Poppins"/>
                <a:sym typeface="Poppins"/>
              </a:rPr>
              <a:t>Exporter l'atlas en PDF multi-pages</a:t>
            </a:r>
          </a:p>
          <a:p>
            <a:pPr algn="just">
              <a:lnSpc>
                <a:spcPts val="3498"/>
              </a:lnSpc>
            </a:pPr>
          </a:p>
          <a:p>
            <a:pPr algn="just">
              <a:lnSpc>
                <a:spcPts val="3498"/>
              </a:lnSpc>
            </a:pPr>
            <a:r>
              <a:rPr lang="en-US" b="true" sz="2498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Bonus :</a:t>
            </a:r>
          </a:p>
          <a:p>
            <a:pPr algn="just" marL="0" indent="0" lvl="0">
              <a:lnSpc>
                <a:spcPts val="3498"/>
              </a:lnSpc>
            </a:pPr>
            <a:r>
              <a:rPr lang="en-US" b="true" sz="2498" u="sng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  <a:hlinkClick r:id="rId2" tooltip="https://notebooklm.google.com/notebook/bec135f1-ad71-480d-95cf-ede7012a7cfe/artifact/68f3882c-8294-4115-b71d-f2c17b4d9d46?utm_source=nlm_web_share&amp;utm_medium=google_oo&amp;utm_campaign=art_share_2&amp;utm_content=&amp;utm_smc=nlm_web_share_google_oo_art_share_2_"/>
              </a:rPr>
              <a:t>Quizz final</a:t>
            </a:r>
          </a:p>
          <a:p>
            <a:pPr algn="just" marL="0" indent="0" lvl="0">
              <a:lnSpc>
                <a:spcPts val="3498"/>
              </a:lnSpc>
            </a:pP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9624979">
            <a:off x="3049243" y="628272"/>
            <a:ext cx="3944288" cy="9931744"/>
            <a:chOff x="0" y="0"/>
            <a:chExt cx="580911" cy="14627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5229" y="0"/>
              <a:ext cx="550454" cy="1462738"/>
            </a:xfrm>
            <a:custGeom>
              <a:avLst/>
              <a:gdLst/>
              <a:ahLst/>
              <a:cxnLst/>
              <a:rect r="r" b="b" t="t" l="l"/>
              <a:pathLst>
                <a:path h="1462738" w="550454">
                  <a:moveTo>
                    <a:pt x="305740" y="0"/>
                  </a:moveTo>
                  <a:lnTo>
                    <a:pt x="447913" y="0"/>
                  </a:lnTo>
                  <a:cubicBezTo>
                    <a:pt x="477569" y="0"/>
                    <a:pt x="505773" y="12840"/>
                    <a:pt x="525247" y="35206"/>
                  </a:cubicBezTo>
                  <a:cubicBezTo>
                    <a:pt x="544721" y="57572"/>
                    <a:pt x="553558" y="87275"/>
                    <a:pt x="549477" y="116649"/>
                  </a:cubicBezTo>
                  <a:lnTo>
                    <a:pt x="378687" y="1346089"/>
                  </a:lnTo>
                  <a:cubicBezTo>
                    <a:pt x="369397" y="1412958"/>
                    <a:pt x="312224" y="1462738"/>
                    <a:pt x="244713" y="1462738"/>
                  </a:cubicBezTo>
                  <a:lnTo>
                    <a:pt x="102540" y="1462738"/>
                  </a:lnTo>
                  <a:cubicBezTo>
                    <a:pt x="72884" y="1462738"/>
                    <a:pt x="44680" y="1449898"/>
                    <a:pt x="25206" y="1427532"/>
                  </a:cubicBezTo>
                  <a:cubicBezTo>
                    <a:pt x="5732" y="1405165"/>
                    <a:pt x="-3105" y="1375463"/>
                    <a:pt x="976" y="1346089"/>
                  </a:cubicBezTo>
                  <a:lnTo>
                    <a:pt x="171766" y="116649"/>
                  </a:lnTo>
                  <a:cubicBezTo>
                    <a:pt x="181056" y="49780"/>
                    <a:pt x="238229" y="0"/>
                    <a:pt x="3057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101600" y="-38100"/>
              <a:ext cx="377711" cy="15008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9571724">
            <a:off x="-5177266" y="-2187579"/>
            <a:ext cx="9232280" cy="11813464"/>
            <a:chOff x="0" y="0"/>
            <a:chExt cx="1359721" cy="17398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5534" y="0"/>
              <a:ext cx="1348653" cy="1739876"/>
            </a:xfrm>
            <a:custGeom>
              <a:avLst/>
              <a:gdLst/>
              <a:ahLst/>
              <a:cxnLst/>
              <a:rect r="r" b="b" t="t" l="l"/>
              <a:pathLst>
                <a:path h="1739876" w="1348653">
                  <a:moveTo>
                    <a:pt x="247980" y="0"/>
                  </a:moveTo>
                  <a:lnTo>
                    <a:pt x="1303873" y="0"/>
                  </a:lnTo>
                  <a:cubicBezTo>
                    <a:pt x="1316654" y="0"/>
                    <a:pt x="1328826" y="5461"/>
                    <a:pt x="1337324" y="15009"/>
                  </a:cubicBezTo>
                  <a:cubicBezTo>
                    <a:pt x="1345821" y="24556"/>
                    <a:pt x="1349834" y="37280"/>
                    <a:pt x="1348351" y="49975"/>
                  </a:cubicBezTo>
                  <a:lnTo>
                    <a:pt x="1156824" y="1689901"/>
                  </a:lnTo>
                  <a:cubicBezTo>
                    <a:pt x="1153497" y="1718393"/>
                    <a:pt x="1129358" y="1739876"/>
                    <a:pt x="1100673" y="1739876"/>
                  </a:cubicBezTo>
                  <a:lnTo>
                    <a:pt x="44780" y="1739876"/>
                  </a:lnTo>
                  <a:cubicBezTo>
                    <a:pt x="31999" y="1739876"/>
                    <a:pt x="19827" y="1734414"/>
                    <a:pt x="11330" y="1724867"/>
                  </a:cubicBezTo>
                  <a:cubicBezTo>
                    <a:pt x="2833" y="1715320"/>
                    <a:pt x="-1180" y="1702596"/>
                    <a:pt x="303" y="1689901"/>
                  </a:cubicBezTo>
                  <a:lnTo>
                    <a:pt x="191829" y="49975"/>
                  </a:lnTo>
                  <a:cubicBezTo>
                    <a:pt x="195157" y="21483"/>
                    <a:pt x="219295" y="0"/>
                    <a:pt x="24798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38100"/>
              <a:ext cx="1156521" cy="17779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52965" y="836497"/>
            <a:ext cx="384406" cy="384406"/>
          </a:xfrm>
          <a:custGeom>
            <a:avLst/>
            <a:gdLst/>
            <a:ahLst/>
            <a:cxnLst/>
            <a:rect r="r" b="b" t="t" l="l"/>
            <a:pathLst>
              <a:path h="384406" w="384406">
                <a:moveTo>
                  <a:pt x="0" y="0"/>
                </a:moveTo>
                <a:lnTo>
                  <a:pt x="384405" y="0"/>
                </a:lnTo>
                <a:lnTo>
                  <a:pt x="384405" y="384406"/>
                </a:lnTo>
                <a:lnTo>
                  <a:pt x="0" y="3844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-3309992" y="8932504"/>
            <a:ext cx="18953602" cy="6042735"/>
            <a:chOff x="0" y="0"/>
            <a:chExt cx="2531226" cy="80699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406" y="0"/>
              <a:ext cx="2520415" cy="806999"/>
            </a:xfrm>
            <a:custGeom>
              <a:avLst/>
              <a:gdLst/>
              <a:ahLst/>
              <a:cxnLst/>
              <a:rect r="r" b="b" t="t" l="l"/>
              <a:pathLst>
                <a:path h="806999" w="2520415">
                  <a:moveTo>
                    <a:pt x="222302" y="0"/>
                  </a:moveTo>
                  <a:lnTo>
                    <a:pt x="2501313" y="0"/>
                  </a:lnTo>
                  <a:cubicBezTo>
                    <a:pt x="2507200" y="0"/>
                    <a:pt x="2512759" y="2715"/>
                    <a:pt x="2516379" y="7359"/>
                  </a:cubicBezTo>
                  <a:cubicBezTo>
                    <a:pt x="2519998" y="12003"/>
                    <a:pt x="2521274" y="18057"/>
                    <a:pt x="2519836" y="23766"/>
                  </a:cubicBezTo>
                  <a:lnTo>
                    <a:pt x="2328605" y="783232"/>
                  </a:lnTo>
                  <a:cubicBezTo>
                    <a:pt x="2325086" y="797205"/>
                    <a:pt x="2312521" y="806999"/>
                    <a:pt x="2298113" y="806999"/>
                  </a:cubicBezTo>
                  <a:lnTo>
                    <a:pt x="19102" y="806999"/>
                  </a:lnTo>
                  <a:cubicBezTo>
                    <a:pt x="13214" y="806999"/>
                    <a:pt x="7655" y="804283"/>
                    <a:pt x="4036" y="799640"/>
                  </a:cubicBezTo>
                  <a:cubicBezTo>
                    <a:pt x="416" y="794996"/>
                    <a:pt x="-859" y="788942"/>
                    <a:pt x="578" y="783232"/>
                  </a:cubicBezTo>
                  <a:lnTo>
                    <a:pt x="191810" y="23766"/>
                  </a:lnTo>
                  <a:cubicBezTo>
                    <a:pt x="195328" y="9793"/>
                    <a:pt x="207893" y="0"/>
                    <a:pt x="22230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66675"/>
              <a:ext cx="2328026" cy="8736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151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9546121" y="6268711"/>
            <a:ext cx="450220" cy="450220"/>
          </a:xfrm>
          <a:custGeom>
            <a:avLst/>
            <a:gdLst/>
            <a:ahLst/>
            <a:cxnLst/>
            <a:rect r="r" b="b" t="t" l="l"/>
            <a:pathLst>
              <a:path h="450220" w="450220">
                <a:moveTo>
                  <a:pt x="0" y="0"/>
                </a:moveTo>
                <a:lnTo>
                  <a:pt x="450220" y="0"/>
                </a:lnTo>
                <a:lnTo>
                  <a:pt x="450220" y="450220"/>
                </a:lnTo>
                <a:lnTo>
                  <a:pt x="0" y="4502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65469" y="5530609"/>
            <a:ext cx="430872" cy="277325"/>
          </a:xfrm>
          <a:custGeom>
            <a:avLst/>
            <a:gdLst/>
            <a:ahLst/>
            <a:cxnLst/>
            <a:rect r="r" b="b" t="t" l="l"/>
            <a:pathLst>
              <a:path h="277325" w="430872">
                <a:moveTo>
                  <a:pt x="0" y="0"/>
                </a:moveTo>
                <a:lnTo>
                  <a:pt x="430872" y="0"/>
                </a:lnTo>
                <a:lnTo>
                  <a:pt x="430872" y="277325"/>
                </a:lnTo>
                <a:lnTo>
                  <a:pt x="0" y="2773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557999" y="828992"/>
            <a:ext cx="2916319" cy="342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8"/>
              </a:lnSpc>
            </a:pPr>
            <a:r>
              <a:rPr lang="en-US" b="true" sz="1898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Formation QGIS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46121" y="3260013"/>
            <a:ext cx="7900117" cy="1276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05"/>
              </a:lnSpc>
            </a:pPr>
            <a:r>
              <a:rPr lang="en-US" b="true" sz="9776">
                <a:gradFill>
                  <a:gsLst>
                    <a:gs pos="0">
                      <a:srgbClr val="226214">
                        <a:alpha val="100000"/>
                      </a:srgbClr>
                    </a:gs>
                    <a:gs pos="100000">
                      <a:srgbClr val="43CC25">
                        <a:alpha val="100000"/>
                      </a:srgbClr>
                    </a:gs>
                  </a:gsLst>
                  <a:lin ang="5400000"/>
                </a:gradFill>
                <a:latin typeface="Poppins Bold"/>
                <a:ea typeface="Poppins Bold"/>
                <a:cs typeface="Poppins Bold"/>
                <a:sym typeface="Poppins Bold"/>
              </a:rPr>
              <a:t>Merci !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351855" y="6305536"/>
            <a:ext cx="7094384" cy="413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20"/>
              </a:lnSpc>
              <a:spcBef>
                <a:spcPct val="0"/>
              </a:spcBef>
            </a:pPr>
            <a:r>
              <a:rPr lang="en-US" b="true" sz="2371">
                <a:solidFill>
                  <a:srgbClr val="1D4ABD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tristan14123.github.io/formation_qgis/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351855" y="5433999"/>
            <a:ext cx="5916952" cy="413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20"/>
              </a:lnSpc>
              <a:spcBef>
                <a:spcPct val="0"/>
              </a:spcBef>
            </a:pPr>
            <a:r>
              <a:rPr lang="en-US" b="true" sz="2371">
                <a:solidFill>
                  <a:srgbClr val="1D4ABD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tristan.vachaudez</a:t>
            </a:r>
            <a:r>
              <a:rPr lang="en-US" b="true" sz="2371">
                <a:solidFill>
                  <a:srgbClr val="1D4ABD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@saint-lo-agglo.fr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073299" y="850717"/>
            <a:ext cx="345637" cy="351346"/>
          </a:xfrm>
          <a:custGeom>
            <a:avLst/>
            <a:gdLst/>
            <a:ahLst/>
            <a:cxnLst/>
            <a:rect r="r" b="b" t="t" l="l"/>
            <a:pathLst>
              <a:path h="351346" w="345637">
                <a:moveTo>
                  <a:pt x="0" y="0"/>
                </a:moveTo>
                <a:lnTo>
                  <a:pt x="345637" y="0"/>
                </a:lnTo>
                <a:lnTo>
                  <a:pt x="345637" y="351346"/>
                </a:lnTo>
                <a:lnTo>
                  <a:pt x="0" y="3513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DAHIIe38EP4</dc:identifier>
  <dcterms:modified xsi:type="dcterms:W3CDTF">2011-08-01T06:04:30Z</dcterms:modified>
  <cp:revision>1</cp:revision>
  <dc:title>formation QGIS</dc:title>
</cp:coreProperties>
</file>