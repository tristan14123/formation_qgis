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ontserrat Medium" panose="00000600000000000000" pitchFamily="2" charset="0"/>
      <p:regular r:id="rId30"/>
      <p:italic r:id="rId31"/>
    </p:embeddedFont>
    <p:embeddedFont>
      <p:font typeface="Poppins" panose="00000500000000000000" pitchFamily="2" charset="0"/>
      <p:regular r:id="rId32"/>
    </p:embeddedFont>
    <p:embeddedFont>
      <p:font typeface="Poppins Bold" panose="00000800000000000000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133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notebooklm.google.com/notebook/bec135f1-ad71-480d-95cf-ede7012a7cfe/artifact/68f3882c-8294-4115-b71d-f2c17b4d9d46?utm_source=nlm_web_share&amp;utm_medium=google_oo&amp;utm_campaign=art_share_2&amp;utm_content=&amp;utm_smc=nlm_web_share_google_oo_art_share_2_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867899">
            <a:off x="-2973627" y="-6666509"/>
            <a:ext cx="12213453" cy="12081047"/>
            <a:chOff x="0" y="0"/>
            <a:chExt cx="1881515" cy="1861118"/>
          </a:xfrm>
        </p:grpSpPr>
        <p:sp>
          <p:nvSpPr>
            <p:cNvPr id="3" name="Freeform 3"/>
            <p:cNvSpPr/>
            <p:nvPr/>
          </p:nvSpPr>
          <p:spPr>
            <a:xfrm>
              <a:off x="3926" y="0"/>
              <a:ext cx="1873662" cy="1861118"/>
            </a:xfrm>
            <a:custGeom>
              <a:avLst/>
              <a:gdLst/>
              <a:ahLst/>
              <a:cxnLst/>
              <a:rect l="l" t="t" r="r" b="b"/>
              <a:pathLst>
                <a:path w="1873662" h="1861118">
                  <a:moveTo>
                    <a:pt x="237307" y="0"/>
                  </a:moveTo>
                  <a:lnTo>
                    <a:pt x="1839556" y="0"/>
                  </a:lnTo>
                  <a:cubicBezTo>
                    <a:pt x="1849246" y="0"/>
                    <a:pt x="1858479" y="4122"/>
                    <a:pt x="1864948" y="11336"/>
                  </a:cubicBezTo>
                  <a:cubicBezTo>
                    <a:pt x="1871417" y="18550"/>
                    <a:pt x="1874513" y="28176"/>
                    <a:pt x="1873461" y="37808"/>
                  </a:cubicBezTo>
                  <a:lnTo>
                    <a:pt x="1678517" y="1823309"/>
                  </a:lnTo>
                  <a:cubicBezTo>
                    <a:pt x="1676168" y="1844823"/>
                    <a:pt x="1657998" y="1861118"/>
                    <a:pt x="1636356" y="1861118"/>
                  </a:cubicBezTo>
                  <a:lnTo>
                    <a:pt x="34107" y="1861118"/>
                  </a:lnTo>
                  <a:cubicBezTo>
                    <a:pt x="24417" y="1861118"/>
                    <a:pt x="15184" y="1856996"/>
                    <a:pt x="8715" y="1849782"/>
                  </a:cubicBezTo>
                  <a:cubicBezTo>
                    <a:pt x="2246" y="1842568"/>
                    <a:pt x="-850" y="1832942"/>
                    <a:pt x="202" y="1823309"/>
                  </a:cubicBezTo>
                  <a:lnTo>
                    <a:pt x="195146" y="37808"/>
                  </a:lnTo>
                  <a:cubicBezTo>
                    <a:pt x="197495" y="16295"/>
                    <a:pt x="215665" y="0"/>
                    <a:pt x="2373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1678315" cy="189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6" name="Freeform 6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106552"/>
            <a:ext cx="4967793" cy="496779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4033" r="-34033"/>
              </a:stretch>
            </a:blipFill>
            <a:ln w="381000" cap="sq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52965" y="836497"/>
            <a:ext cx="384406" cy="384406"/>
          </a:xfrm>
          <a:custGeom>
            <a:avLst/>
            <a:gdLst/>
            <a:ahLst/>
            <a:cxnLst/>
            <a:rect l="l" t="t" r="r" b="b"/>
            <a:pathLst>
              <a:path w="384406" h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073299" y="850717"/>
            <a:ext cx="345637" cy="351346"/>
          </a:xfrm>
          <a:custGeom>
            <a:avLst/>
            <a:gdLst/>
            <a:ahLst/>
            <a:cxnLst/>
            <a:rect l="l" t="t" r="r" b="b"/>
            <a:pathLst>
              <a:path w="345637" h="351346">
                <a:moveTo>
                  <a:pt x="0" y="0"/>
                </a:moveTo>
                <a:lnTo>
                  <a:pt x="345637" y="0"/>
                </a:lnTo>
                <a:lnTo>
                  <a:pt x="345637" y="351346"/>
                </a:lnTo>
                <a:lnTo>
                  <a:pt x="0" y="351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557999" y="828992"/>
            <a:ext cx="2916319" cy="327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</a:t>
            </a:r>
            <a:r>
              <a:rPr lang="en-US" sz="1898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QGIS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0322" y="3072364"/>
            <a:ext cx="7826905" cy="193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39"/>
              </a:lnSpc>
            </a:pPr>
            <a:r>
              <a:rPr lang="en-US" sz="6672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  <a:p>
            <a:pPr marL="0" lvl="0" indent="0" algn="l">
              <a:lnSpc>
                <a:spcPts val="7339"/>
              </a:lnSpc>
            </a:pPr>
            <a:r>
              <a:rPr lang="en-US" sz="6672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Niveau Débutant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10322" y="5547707"/>
            <a:ext cx="7536490" cy="90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7"/>
              </a:lnSpc>
            </a:pPr>
            <a:r>
              <a:rPr lang="en-US" sz="3124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De la prise en main à la création d'atlas cartographiques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965066"/>
            <a:ext cx="1662550" cy="40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Accueil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08122" y="967280"/>
            <a:ext cx="1907082" cy="40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Programme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7826" y="816866"/>
            <a:ext cx="356785" cy="471297"/>
          </a:xfrm>
          <a:custGeom>
            <a:avLst/>
            <a:gdLst/>
            <a:ahLst/>
            <a:cxnLst/>
            <a:rect l="l" t="t" r="r" b="b"/>
            <a:pathLst>
              <a:path w="356785" h="471297">
                <a:moveTo>
                  <a:pt x="0" y="0"/>
                </a:moveTo>
                <a:lnTo>
                  <a:pt x="356785" y="0"/>
                </a:lnTo>
                <a:lnTo>
                  <a:pt x="356785" y="471297"/>
                </a:lnTo>
                <a:lnTo>
                  <a:pt x="0" y="47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557999" y="838517"/>
            <a:ext cx="2916319" cy="30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9"/>
              </a:lnSpc>
            </a:pPr>
            <a:r>
              <a:rPr lang="en-US" sz="17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4645" y="2508434"/>
            <a:ext cx="4911031" cy="114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Prise en main de l'interface QGIS et découverte des panneaux principaux. Exploration des concepts fondamentaux des Systèmes d'Information Géographique.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4645" y="4756516"/>
            <a:ext cx="4911031" cy="114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Comprendre les systèmes de projection et leurs applications. Importer et gérer différents formats de données géographiques (Shapefile, GeoPackage, CSV).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4645" y="2146299"/>
            <a:ext cx="2937869" cy="29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aux SIG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4645" y="4394381"/>
            <a:ext cx="2937869" cy="29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des données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7826" y="2241549"/>
            <a:ext cx="472987" cy="472987"/>
            <a:chOff x="0" y="0"/>
            <a:chExt cx="82312" cy="82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7826" y="4453439"/>
            <a:ext cx="472987" cy="472987"/>
            <a:chOff x="0" y="0"/>
            <a:chExt cx="82312" cy="823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66131" y="2231798"/>
            <a:ext cx="276378" cy="39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3"/>
              </a:lnSpc>
            </a:pPr>
            <a:r>
              <a:rPr lang="en-US" sz="217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6131" y="4443687"/>
            <a:ext cx="276378" cy="39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3"/>
              </a:lnSpc>
            </a:pPr>
            <a:r>
              <a:rPr lang="en-US" sz="217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67826" y="6619418"/>
            <a:ext cx="472987" cy="472987"/>
            <a:chOff x="0" y="0"/>
            <a:chExt cx="82312" cy="823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93960" y="2193924"/>
            <a:ext cx="472987" cy="472987"/>
            <a:chOff x="0" y="0"/>
            <a:chExt cx="82312" cy="823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200322" y="2662826"/>
            <a:ext cx="6103661" cy="78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Styles de symboles (catégorisé, gradué), étiquetage avancé, règles de représentation, création de légendes personnalisées, export de styles réutilisables.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6131" y="6600142"/>
            <a:ext cx="276378" cy="4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2"/>
              </a:lnSpc>
            </a:pPr>
            <a:r>
              <a:rPr lang="en-US" sz="23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92265" y="2174648"/>
            <a:ext cx="276378" cy="4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2"/>
              </a:lnSpc>
            </a:pPr>
            <a:r>
              <a:rPr lang="en-US" sz="23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41889" y="7012346"/>
            <a:ext cx="4843787" cy="148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60"/>
              </a:lnSpc>
            </a:pPr>
            <a:r>
              <a:rPr lang="en-US" sz="1686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Sélections attributaires et spatiales, calculs de champs, jointures de tables, géotraitements de base (buffer, intersection, découpage), analyse thématique des données.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41889" y="6581318"/>
            <a:ext cx="5595279" cy="26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Manipulation et analyse de données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00322" y="2212748"/>
            <a:ext cx="3651323" cy="26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Symbologie et analyse visuelle 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393960" y="4442006"/>
            <a:ext cx="472987" cy="472987"/>
            <a:chOff x="0" y="0"/>
            <a:chExt cx="82312" cy="823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44000" y="4978481"/>
            <a:ext cx="6782240" cy="87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30"/>
              </a:lnSpc>
            </a:pPr>
            <a:r>
              <a:rPr lang="en-US" sz="1664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Styles de symboles (catégorisé, gradué), étiquetage avancé, règles de représentation, création de légendes personnalisées, export de styles réutilisables.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92265" y="4422730"/>
            <a:ext cx="276378" cy="85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2"/>
              </a:lnSpc>
            </a:pPr>
            <a:r>
              <a:rPr lang="en-US" sz="23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00322" y="4460830"/>
            <a:ext cx="3651323" cy="26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Mise en page et création d'atlas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0" y="965066"/>
            <a:ext cx="1662550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Accueil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08122" y="967280"/>
            <a:ext cx="1907082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38" name="Freeform 38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58000"/>
                  </a:srgbClr>
                </a:gs>
                <a:gs pos="100000">
                  <a:srgbClr val="43CC25">
                    <a:alpha val="5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19921"/>
            <a:ext cx="7724541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Qu'est-ce qu'un SIG ?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3729316"/>
            <a:ext cx="14324894" cy="397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Système d'Information Géographique</a:t>
            </a:r>
          </a:p>
          <a:p>
            <a:pPr marL="539446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Collecte, stockage, manipulation, analyse et restitution de données géographiques</a:t>
            </a:r>
          </a:p>
          <a:p>
            <a:pPr marL="539446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Lien objet spatial ↔ base de données attributaire</a:t>
            </a:r>
          </a:p>
          <a:p>
            <a:pPr marL="539446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Cas d'usage agents: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Cartographier les travaux de voirie et consulter l'état d'avancement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Gérer les réseaux d'eau avec caractéristiques des canalisation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Suivre les dossiers de permis de construire par parcelle</a:t>
            </a:r>
          </a:p>
          <a:p>
            <a:pPr marL="0" lvl="0" indent="0"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Différence avec carte papier: Interactivité, analyse, mise à jour continue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6" name="Freeform 6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9000"/>
                  </a:srgbClr>
                </a:gs>
                <a:gs pos="100000">
                  <a:srgbClr val="43CC25">
                    <a:alpha val="19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3729316"/>
            <a:ext cx="14324894" cy="5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Mode Vecteur: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Points: Mairie, borne incendie, captage (coordonnées X,Y)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Lignes: Route, cours d'eau, canalisation (succession de sommets)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Polygones: Parcelle, zone inondable, bâtiment (surface fermée)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Mode Raster: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Grille de pixels avec valeur par cellule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Orthophoto: Photographie aérienne redressée (20cm IGN)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MNT: Modèle Numérique de Terrain (altitude en mètres par pixel)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Règle pratique: Les deux coexistent dans un même projet QGIS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4" name="Freeform 4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5000"/>
                  </a:srgbClr>
                </a:gs>
                <a:gs pos="100000">
                  <a:srgbClr val="43CC25">
                    <a:alpha val="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33722" y="2419921"/>
            <a:ext cx="7724541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Mode Vecteur vs Raster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Interface QGIS - Les essentiels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Panneau Couches: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Liste et ordre d'affichage des couches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L'ordre dans le panneau = ordre d'affichage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Règle d'or: Polygones SOUS lignes SOUS points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Panneau Explorateur: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Navigation dans fichiers et connexions aux sources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Glisser-déposer pour ajouter des couches instantanément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Barres d'outils: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Navigation (zoom, déplacement): Z, X, molette souris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Sélection: par clic, rectangle, polygone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Édition: mode édition (crayon) pour modifier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Barre de statut: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 curseur, échelle, SCR actif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Installation et versions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569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LTR (Long Term Release):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Maintenue et corrigée pendant 1 an minimum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Recommandée pour les environnements professionnels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Stabilité garantie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courante: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Nouvelles fonctionnalités toutes les 4 mois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Plus susceptible de régressions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Pour utilisateurs avancés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Windows: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Installeur standalone (recommandé)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88538" y="692325"/>
            <a:ext cx="5275969" cy="1007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5"/>
              </a:lnSpc>
            </a:pPr>
            <a:r>
              <a:rPr lang="en-US" sz="7753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698793"/>
            <a:ext cx="14324894" cy="4822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Prise en main et exploration d'un jeu de données communal</a:t>
            </a:r>
          </a:p>
          <a:p>
            <a:pPr algn="just">
              <a:lnSpc>
                <a:spcPts val="3498"/>
              </a:lnSpc>
            </a:pPr>
            <a:endParaRPr lang="en-US" sz="249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un projet QGIS fourni contenant les limites communales d'un département, un réseau routier et une couche de points (mairies). Explorer l'interface et identifier chaque panneau.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le projet .qgz fourni par le formateur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Identifier les types de couches (vecteur/raster) dans le panneau Couches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Utiliser le zoom et la navigation pour explorer le territoire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la table d'attributs de la couche communes et identifier les champs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Changer l'ordre des couches pour modifier l'affichage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55084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Gestion des données et projections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707506"/>
            <a:ext cx="14324894" cy="740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8"/>
              </a:lnSpc>
            </a:pPr>
            <a:r>
              <a:rPr lang="en-US" sz="30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Formats de fichiers principaux</a:t>
            </a:r>
          </a:p>
          <a:p>
            <a:pPr algn="just">
              <a:lnSpc>
                <a:spcPts val="4338"/>
              </a:lnSpc>
            </a:pPr>
            <a:endParaRPr lang="en-US" sz="309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Shapefile (.shp):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historique, très répandu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Plusieurs fichiers obligatoires: .shp, .dbf, .shx, .prj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Limites: nom de champ 10 caractères, 2 Go max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GeoPackage (.gpkg):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moderne recommandé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 seul fichier contenant plusieurs couches vecteur/raster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Pas de limite de nom de champ, pas de limite de taille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 web:</a:t>
            </a:r>
          </a:p>
          <a:p>
            <a:pPr marL="409910" lvl="1" indent="-204955" algn="just">
              <a:lnSpc>
                <a:spcPts val="2658"/>
              </a:lnSpc>
              <a:buFont typeface="Arial"/>
              <a:buChar char="•"/>
            </a:pPr>
            <a:r>
              <a:rPr lang="en-US" sz="18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WMS: Images de carte (fond de plan IGN) https://data.geopf.fr/wmts?SERVICE=WMTS&amp;VERSION=1.0.0&amp;REQUEST=GetCapabilities</a:t>
            </a:r>
          </a:p>
          <a:p>
            <a:pPr marL="453089" lvl="1" indent="-226544" algn="just">
              <a:lnSpc>
                <a:spcPts val="2938"/>
              </a:lnSpc>
              <a:buFont typeface="Arial"/>
              <a:buChar char="•"/>
            </a:pPr>
            <a:r>
              <a:rPr lang="en-US" sz="20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WFS: Données téléchargeables et interrogeables: https://data.geopf.fr/wfs/ows?VERSION=2.0.0</a:t>
            </a:r>
          </a:p>
          <a:p>
            <a:pPr marL="0" lvl="0" indent="0" algn="just">
              <a:lnSpc>
                <a:spcPts val="3498"/>
              </a:lnSpc>
            </a:pPr>
            <a:endParaRPr lang="en-US" sz="20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Import de données CSV/TXT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5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Étapes clés: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 le séparateur: virgule, point-virgule, tabulation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Identifier les colonnes X/Y: longitude/Easting, latitude/Northing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Choisir le SCR source: EPSG:3949(MANCHE) ou EPSG:2154 (Lambert 93)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Gérer l'encodage: UTF-8 (moderne) vs LATIN-1 (ancien)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 la géométrie: points bien placés sur la carte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Problèmes courants: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Colonnes X/Y inversées → points en mer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Mauvais SCR → décalage important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Mauvais encodage → caractères bizarres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Systèmes de coordonnées essentiels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Codes EPSG à retenir: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EPSG:2154 - Lambert 93 (projection officielle France)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 en mètres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X: 100 000 à 1 300 000, Y: 6 000 000 à 7 200 000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EPSG:4326 - WGS84 (GPS)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 en degrés décimaux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Longitude: -1.09, Latitude: 49.11 (Saint-Lô)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EPSG:3857 - Web Mercator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Google Maps, OpenStreetMap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Ne PAS calculer distances/surfaces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EPSG:3949 - UTM Zone 31N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Projection utilisée pour la Manche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Reprojection</a:t>
            </a: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À la volée: QGIS aligne automatiquement (visualisation)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Permanente: Exporter dans nouveau SCR (calculs)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2541" y="692325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917863"/>
            <a:ext cx="14324894" cy="438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Import d'un fichier CSV de points de suivi de travaux</a:t>
            </a:r>
          </a:p>
          <a:p>
            <a:pPr algn="just">
              <a:lnSpc>
                <a:spcPts val="3498"/>
              </a:lnSpc>
            </a:pPr>
            <a:endParaRPr lang="en-US" sz="249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Importer un fichier texte contenant des coordonnées GPS de chantiers, vérifier l'encodage et le SCR, puis reprojeter en 3949.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le CSV dans un éditeur texte pour identifier le séparateur et l'encodage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Importer via Couche &gt; Ajouter une couche de texte délimité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 que les points s'affichent au bon endroit sur la carte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la couche en GeoPackage dans le SCR EPSG:3949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99078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d'attributs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3285908"/>
            <a:ext cx="14324894" cy="613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Fonctionnalités essentielles: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(F6): Chaque ligne = un objet géographique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 par formulaire: Filtrer selon critères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Tri et recherche: Trier par colonne, rechercher rapidement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Mode édition (crayon): Modifier, ajouter, supprimer des attributs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Raccourcis clés: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F6: Ouvrir la table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Ctrl+E: Activer mode édition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Ctrl+S: Sauvegarder les modifications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Ctrl+clic: Sélection multiple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Astuce: Cliquer sur une ligne sélectionne l'objet sur la carte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3722" y="1646866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Manipulation et analyse de données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Calculateur de champs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8"/>
              </a:lnSpc>
            </a:pPr>
            <a:r>
              <a:rPr lang="en-US" sz="27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Créer des champs calculés automatiquement:</a:t>
            </a: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géométriques: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$area / 10000 → Surface en hectares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$length → Longueur en mètres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$x, $y → Coordonnées du centroïde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texte: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upper("nom") → Majuscules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concat("prénom", ' ', "nom") → Concaténation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left("code", 2) → Premiers caractères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conditionnelles: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if("surface" &gt; 10000, 'Grande', 'Petite')</a:t>
            </a:r>
          </a:p>
          <a:p>
            <a:pPr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Sur sélection uniquement: Cocher "Mettre à jour uniquement les entités sélectionnées"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Jointures attributaires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2473100"/>
            <a:ext cx="14324894" cy="7013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Principe: </a:t>
            </a: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Relier une couche géo à un tableau via identifiant communExpressions géométriques: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Étapes</a:t>
            </a: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 le champ commun: Mêmes valeurs, même format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Configurer: Clic droit &gt; Propriétés &gt; Jointures &gt; "+"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Définir: Couche à joindre, champ source, champ cible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Valider: Vérifier les champs joints dans la table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des NULL: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NULL = aucune correspondance trouvée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Causes: espaces, caractères différents, types incompatibles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Solution: nettoyer les données avant jointure</a:t>
            </a:r>
          </a:p>
          <a:p>
            <a:pPr marL="0" lvl="0" indent="0"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Rendre permanente: Exporter la couche pour figer les champs joints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038225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Géotraitements essentiels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1825055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Zone tampon (Buffer):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Crée une zone de X mètres autour d'objets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Applications: servitude 35m cours d'eau, périmètre protection 500m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Découpage (Clip):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Extrait partie d'une couche dans une emprise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Applications: routes d'une commune, parcelles d'un secteur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Intersection: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Combine deux couches avec attributs des deux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Applications: parcelles en zone de servitude avec infos propriétaires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Boîte à outils (Ctrl+Alt+T):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Accès à tous les algorithmes QGIS/GDAL/GRASS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Recherche par mot-clé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Historique des outils récents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698793"/>
            <a:ext cx="14324894" cy="5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Jointure et calcul : superficie des parcelles par propriétaire</a:t>
            </a:r>
          </a:p>
          <a:p>
            <a:pPr algn="just">
              <a:lnSpc>
                <a:spcPts val="3498"/>
              </a:lnSpc>
            </a:pPr>
            <a:endParaRPr lang="en-US" sz="249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Joindre un tableau Excel de propriétaires à une couche parcellaire, calculer la superficie en hectares et sélectionner les parcelles supérieures à 5 ha.</a:t>
            </a:r>
          </a:p>
          <a:p>
            <a:pPr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Installer l’extension spreadsheet layers.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Configurer la jointure dans Parcelles&gt; Jointures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 les champs joints dans la table d'attributs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le calculateur de champs, créer le champ "superficie_ha" avec $area / 10000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Filtrer par expression pour sélectionner les parcelles &gt; 5 ha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la sélection en nouvelle couche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99078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Représentation cartographique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3133132"/>
            <a:ext cx="12610569" cy="694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Symbole unique: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 style pour tous les objets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Couleur, contour, épaisseur, opacité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079"/>
              </a:lnSpc>
            </a:pPr>
            <a:r>
              <a:rPr lang="en-US" sz="219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Carte catégorisée: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 couleur par catégorie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Champ: type d'OCS, statut, propriétaire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Utiliser palettes ColorBrewer qualitatives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Carte graduée: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Dégradé selon valeur numérique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Méthodes: Quantiles, Jenks (ruptures naturelles)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Maximum 5 classes pour lisibilité</a:t>
            </a:r>
          </a:p>
          <a:p>
            <a:pPr algn="just">
              <a:lnSpc>
                <a:spcPts val="3079"/>
              </a:lnSpc>
            </a:pPr>
            <a:endParaRPr lang="en-US" sz="2199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Visibilité par échelle: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Afficher/masquer selon niveau de zoom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Améliore performances et lisibilité</a:t>
            </a:r>
          </a:p>
          <a:p>
            <a:pPr marL="0" lvl="0" indent="0" algn="just">
              <a:lnSpc>
                <a:spcPts val="3079"/>
              </a:lnSpc>
            </a:pPr>
            <a:endParaRPr lang="en-US" sz="2199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3722" y="1646866"/>
            <a:ext cx="15425578" cy="718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Symbologie et analyse visuelle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038225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Étiquetage efficace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1825055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Activation et mise en forme: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Propriétés &gt; Étiquettes &gt; Champ source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Police, taille, couleur du texte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Halo blanc: Contour pour lisibilité sur tous fonds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Placement automatique: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QGIS place automatiquement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Gère les collisions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d'étiquettes: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concat("NOM", '\n(', round("SURFACE_HA", 1), ' ha)')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if("STATUT" = 'En cours', upper("NOM"), "NOM")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Astuces: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Visibilité par échelle pour éviter surcharge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\n dans expressions = saut de ligne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698793"/>
            <a:ext cx="14324894" cy="438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Créer une carte catégorisée d'une couche des travaux 2026 avec des étiquettes de communes, sur fond OpenStreetMap.</a:t>
            </a:r>
          </a:p>
          <a:p>
            <a:pPr algn="just">
              <a:lnSpc>
                <a:spcPts val="3498"/>
              </a:lnSpc>
            </a:pPr>
            <a:endParaRPr lang="en-US" sz="249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Ajouter un fond OSM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Paramétrer la symbologie catégorisée sur le champ "eu_ep_aep"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Appliquer une rampe de couleurs et ajuster l'opacité des polygones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Activer les étiquettes communes avec halo blanc pour la lisibilité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99078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Composeur d'impression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3285908"/>
            <a:ext cx="14324894" cy="657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(Ctrl+P):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Espace de composition indépendant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A4/A3, orientation, résolution (300 DPI impression)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Élément Carte: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Emprise, échelle, grille de coordonnées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Échelles normalisées: 1:5000, 1:10000, 1:25000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Règles TOLE (obligatoires):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Titre: Descriptif, daté si nécessaire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Orientation: Flèche Nord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Légende: Symboles expliqués, unités précisées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Échelle: Barre graphique (reste correcte si photocopiée)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Source: Auteur, organisme, date données, projection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3722" y="1646866"/>
            <a:ext cx="15425578" cy="718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Mise en page et création d'atlas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038225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Atlas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1825055"/>
            <a:ext cx="14324894" cy="657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Générer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automatiquement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N fiches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cartographiques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depuis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couverture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Configuration: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Atlas: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Atlas &gt;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Générer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un atlas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 de couverture: Communes,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secteurs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Nom de page: Champ pour le nom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fiche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Paramètres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zoom: Marge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entité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fixe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dynamiques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[% @atlas_pagename %] → Nom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l'entité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courante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[% "NOM_COMMUNE" %] → Valeur d'un champ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[%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("Fiche N°", @atlas_featurenumber, "/", @atlas_totalfeatures) %]</a:t>
            </a:r>
          </a:p>
          <a:p>
            <a:pPr algn="just">
              <a:lnSpc>
                <a:spcPts val="3498"/>
              </a:lnSpc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Légende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dynamique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"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entités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dans la carte"</a:t>
            </a: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7304" y="754444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Export et partage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27304" y="1541274"/>
            <a:ext cx="14324894" cy="8327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PDF: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Haute résolution (300 DPI)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officiel pour rapports administratifs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Compression activée pour réduire taille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image (PNG/JPEG):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PNG: Sans perte, pour cartes avec textes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JPEG: Compressé, pour e-mails et documents Word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Résolution: 150 DPI écran, 300 DPI impression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SVG: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vectoriel pour édition graphique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Compatible Inkscape/Illustrator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Partage projet: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.qgz + données liées dans archive ZIP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 GeoPackage unique contenant toutes les couches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Chemins relatifs activés pour portabilité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460406"/>
            <a:ext cx="14324894" cy="569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Produire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un atlas de N fiches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cartographiques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(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une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par commune)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affichant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les travaux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cours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, les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réseaux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d'eau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et les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parcelles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concernées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, avec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titre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dynamique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et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légende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just">
              <a:lnSpc>
                <a:spcPts val="3498"/>
              </a:lnSpc>
            </a:pPr>
            <a:endParaRPr lang="en-US" sz="24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mise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page avec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tous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éléments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TOLE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Configurer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l'atlas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sur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communes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Paramétrer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titre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dynamique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avec la variable @atlas_pagename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Prévisualiser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fiches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corriger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débordements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d'étiquettes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l'atlas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PDF multi-pages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Bonus :</a:t>
            </a:r>
          </a:p>
          <a:p>
            <a:pPr marL="0" lvl="0" indent="0" algn="just">
              <a:lnSpc>
                <a:spcPts val="3498"/>
              </a:lnSpc>
            </a:pPr>
            <a:r>
              <a:rPr lang="en-US" sz="2498" b="1" u="sng" dirty="0" err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  <a:hlinkClick r:id="rId2" tooltip="https://notebooklm.google.com/notebook/bec135f1-ad71-480d-95cf-ede7012a7cfe/artifact/68f3882c-8294-4115-b71d-f2c17b4d9d46?utm_source=nlm_web_share&amp;utm_medium=google_oo&amp;utm_campaign=art_share_2&amp;utm_content=&amp;utm_smc=nlm_web_share_google_oo_art_share_2_"/>
              </a:rPr>
              <a:t>Quizz</a:t>
            </a:r>
            <a:r>
              <a:rPr lang="en-US" sz="2498" b="1" u="sng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  <a:hlinkClick r:id="rId2" tooltip="https://notebooklm.google.com/notebook/bec135f1-ad71-480d-95cf-ede7012a7cfe/artifact/68f3882c-8294-4115-b71d-f2c17b4d9d46?utm_source=nlm_web_share&amp;utm_medium=google_oo&amp;utm_campaign=art_share_2&amp;utm_content=&amp;utm_smc=nlm_web_share_google_oo_art_share_2_"/>
              </a:rPr>
              <a:t> final</a:t>
            </a:r>
          </a:p>
          <a:p>
            <a:pPr marL="0" lvl="0" indent="0" algn="just">
              <a:lnSpc>
                <a:spcPts val="3498"/>
              </a:lnSpc>
            </a:pPr>
            <a:endParaRPr lang="en-US" sz="2498" b="1" u="sng" dirty="0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  <a:hlinkClick r:id="rId2" tooltip="https://notebooklm.google.com/notebook/bec135f1-ad71-480d-95cf-ede7012a7cfe/artifact/68f3882c-8294-4115-b71d-f2c17b4d9d46?utm_source=nlm_web_share&amp;utm_medium=google_oo&amp;utm_campaign=art_share_2&amp;utm_content=&amp;utm_smc=nlm_web_share_google_oo_art_share_2_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624979">
            <a:off x="3049243" y="628272"/>
            <a:ext cx="3944288" cy="9931744"/>
            <a:chOff x="0" y="0"/>
            <a:chExt cx="580911" cy="1462738"/>
          </a:xfrm>
        </p:grpSpPr>
        <p:sp>
          <p:nvSpPr>
            <p:cNvPr id="3" name="Freeform 3"/>
            <p:cNvSpPr/>
            <p:nvPr/>
          </p:nvSpPr>
          <p:spPr>
            <a:xfrm>
              <a:off x="15229" y="0"/>
              <a:ext cx="550454" cy="1462738"/>
            </a:xfrm>
            <a:custGeom>
              <a:avLst/>
              <a:gdLst/>
              <a:ahLst/>
              <a:cxnLst/>
              <a:rect l="l" t="t" r="r" b="b"/>
              <a:pathLst>
                <a:path w="550454" h="1462738">
                  <a:moveTo>
                    <a:pt x="305740" y="0"/>
                  </a:moveTo>
                  <a:lnTo>
                    <a:pt x="447913" y="0"/>
                  </a:lnTo>
                  <a:cubicBezTo>
                    <a:pt x="477569" y="0"/>
                    <a:pt x="505773" y="12840"/>
                    <a:pt x="525247" y="35206"/>
                  </a:cubicBezTo>
                  <a:cubicBezTo>
                    <a:pt x="544721" y="57572"/>
                    <a:pt x="553558" y="87275"/>
                    <a:pt x="549477" y="116649"/>
                  </a:cubicBezTo>
                  <a:lnTo>
                    <a:pt x="378687" y="1346089"/>
                  </a:lnTo>
                  <a:cubicBezTo>
                    <a:pt x="369397" y="1412958"/>
                    <a:pt x="312224" y="1462738"/>
                    <a:pt x="244713" y="1462738"/>
                  </a:cubicBezTo>
                  <a:lnTo>
                    <a:pt x="102540" y="1462738"/>
                  </a:lnTo>
                  <a:cubicBezTo>
                    <a:pt x="72884" y="1462738"/>
                    <a:pt x="44680" y="1449898"/>
                    <a:pt x="25206" y="1427532"/>
                  </a:cubicBezTo>
                  <a:cubicBezTo>
                    <a:pt x="5732" y="1405165"/>
                    <a:pt x="-3105" y="1375463"/>
                    <a:pt x="976" y="1346089"/>
                  </a:cubicBezTo>
                  <a:lnTo>
                    <a:pt x="171766" y="116649"/>
                  </a:lnTo>
                  <a:cubicBezTo>
                    <a:pt x="181056" y="49780"/>
                    <a:pt x="238229" y="0"/>
                    <a:pt x="3057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77711" cy="1500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9571724">
            <a:off x="-5177266" y="-2187579"/>
            <a:ext cx="9232280" cy="11813464"/>
            <a:chOff x="0" y="0"/>
            <a:chExt cx="1359721" cy="1739876"/>
          </a:xfrm>
        </p:grpSpPr>
        <p:sp>
          <p:nvSpPr>
            <p:cNvPr id="6" name="Freeform 6"/>
            <p:cNvSpPr/>
            <p:nvPr/>
          </p:nvSpPr>
          <p:spPr>
            <a:xfrm>
              <a:off x="5534" y="0"/>
              <a:ext cx="1348653" cy="1739876"/>
            </a:xfrm>
            <a:custGeom>
              <a:avLst/>
              <a:gdLst/>
              <a:ahLst/>
              <a:cxnLst/>
              <a:rect l="l" t="t" r="r" b="b"/>
              <a:pathLst>
                <a:path w="1348653" h="1739876">
                  <a:moveTo>
                    <a:pt x="247980" y="0"/>
                  </a:moveTo>
                  <a:lnTo>
                    <a:pt x="1303873" y="0"/>
                  </a:lnTo>
                  <a:cubicBezTo>
                    <a:pt x="1316654" y="0"/>
                    <a:pt x="1328826" y="5461"/>
                    <a:pt x="1337324" y="15009"/>
                  </a:cubicBezTo>
                  <a:cubicBezTo>
                    <a:pt x="1345821" y="24556"/>
                    <a:pt x="1349834" y="37280"/>
                    <a:pt x="1348351" y="49975"/>
                  </a:cubicBezTo>
                  <a:lnTo>
                    <a:pt x="1156824" y="1689901"/>
                  </a:lnTo>
                  <a:cubicBezTo>
                    <a:pt x="1153497" y="1718393"/>
                    <a:pt x="1129358" y="1739876"/>
                    <a:pt x="1100673" y="1739876"/>
                  </a:cubicBezTo>
                  <a:lnTo>
                    <a:pt x="44780" y="1739876"/>
                  </a:lnTo>
                  <a:cubicBezTo>
                    <a:pt x="31999" y="1739876"/>
                    <a:pt x="19827" y="1734414"/>
                    <a:pt x="11330" y="1724867"/>
                  </a:cubicBezTo>
                  <a:cubicBezTo>
                    <a:pt x="2833" y="1715320"/>
                    <a:pt x="-1180" y="1702596"/>
                    <a:pt x="303" y="1689901"/>
                  </a:cubicBezTo>
                  <a:lnTo>
                    <a:pt x="191829" y="49975"/>
                  </a:lnTo>
                  <a:cubicBezTo>
                    <a:pt x="195157" y="21483"/>
                    <a:pt x="219295" y="0"/>
                    <a:pt x="2479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1156521" cy="177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309992" y="8932504"/>
            <a:ext cx="18953602" cy="6042735"/>
            <a:chOff x="0" y="0"/>
            <a:chExt cx="2531226" cy="806999"/>
          </a:xfrm>
        </p:grpSpPr>
        <p:sp>
          <p:nvSpPr>
            <p:cNvPr id="10" name="Freeform 10"/>
            <p:cNvSpPr/>
            <p:nvPr/>
          </p:nvSpPr>
          <p:spPr>
            <a:xfrm>
              <a:off x="5406" y="0"/>
              <a:ext cx="2520415" cy="806999"/>
            </a:xfrm>
            <a:custGeom>
              <a:avLst/>
              <a:gdLst/>
              <a:ahLst/>
              <a:cxnLst/>
              <a:rect l="l" t="t" r="r" b="b"/>
              <a:pathLst>
                <a:path w="2520415" h="806999">
                  <a:moveTo>
                    <a:pt x="222302" y="0"/>
                  </a:moveTo>
                  <a:lnTo>
                    <a:pt x="2501313" y="0"/>
                  </a:lnTo>
                  <a:cubicBezTo>
                    <a:pt x="2507200" y="0"/>
                    <a:pt x="2512759" y="2715"/>
                    <a:pt x="2516379" y="7359"/>
                  </a:cubicBezTo>
                  <a:cubicBezTo>
                    <a:pt x="2519998" y="12003"/>
                    <a:pt x="2521274" y="18057"/>
                    <a:pt x="2519836" y="23766"/>
                  </a:cubicBezTo>
                  <a:lnTo>
                    <a:pt x="2328605" y="783232"/>
                  </a:lnTo>
                  <a:cubicBezTo>
                    <a:pt x="2325086" y="797205"/>
                    <a:pt x="2312521" y="806999"/>
                    <a:pt x="2298113" y="806999"/>
                  </a:cubicBezTo>
                  <a:lnTo>
                    <a:pt x="19102" y="806999"/>
                  </a:lnTo>
                  <a:cubicBezTo>
                    <a:pt x="13214" y="806999"/>
                    <a:pt x="7655" y="804283"/>
                    <a:pt x="4036" y="799640"/>
                  </a:cubicBezTo>
                  <a:cubicBezTo>
                    <a:pt x="416" y="794996"/>
                    <a:pt x="-859" y="788942"/>
                    <a:pt x="578" y="783232"/>
                  </a:cubicBezTo>
                  <a:lnTo>
                    <a:pt x="191810" y="23766"/>
                  </a:lnTo>
                  <a:cubicBezTo>
                    <a:pt x="195328" y="9793"/>
                    <a:pt x="207893" y="0"/>
                    <a:pt x="2223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66675"/>
              <a:ext cx="2328026" cy="873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546121" y="6268711"/>
            <a:ext cx="450220" cy="450220"/>
          </a:xfrm>
          <a:custGeom>
            <a:avLst/>
            <a:gdLst/>
            <a:ahLst/>
            <a:cxnLst/>
            <a:rect l="l" t="t" r="r" b="b"/>
            <a:pathLst>
              <a:path w="450220" h="450220">
                <a:moveTo>
                  <a:pt x="0" y="0"/>
                </a:moveTo>
                <a:lnTo>
                  <a:pt x="450220" y="0"/>
                </a:lnTo>
                <a:lnTo>
                  <a:pt x="450220" y="450220"/>
                </a:lnTo>
                <a:lnTo>
                  <a:pt x="0" y="45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9565469" y="5530609"/>
            <a:ext cx="430872" cy="277325"/>
          </a:xfrm>
          <a:custGeom>
            <a:avLst/>
            <a:gdLst/>
            <a:ahLst/>
            <a:cxnLst/>
            <a:rect l="l" t="t" r="r" b="b"/>
            <a:pathLst>
              <a:path w="430872" h="277325">
                <a:moveTo>
                  <a:pt x="0" y="0"/>
                </a:moveTo>
                <a:lnTo>
                  <a:pt x="430872" y="0"/>
                </a:lnTo>
                <a:lnTo>
                  <a:pt x="430872" y="277325"/>
                </a:lnTo>
                <a:lnTo>
                  <a:pt x="0" y="27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557999" y="828992"/>
            <a:ext cx="2916319" cy="34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46121" y="3260013"/>
            <a:ext cx="7900117" cy="12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05"/>
              </a:lnSpc>
            </a:pPr>
            <a:r>
              <a:rPr lang="en-US" sz="9776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Merci 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1855" y="6305536"/>
            <a:ext cx="7094384" cy="41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tristan14123.github.io/formation_qgis/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1855" y="5433999"/>
            <a:ext cx="5916952" cy="41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tristan.vachaudez@saint-lo-agglo.fr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1572" y="824468"/>
            <a:ext cx="345637" cy="351346"/>
          </a:xfrm>
          <a:custGeom>
            <a:avLst/>
            <a:gdLst/>
            <a:ahLst/>
            <a:cxnLst/>
            <a:rect l="l" t="t" r="r" b="b"/>
            <a:pathLst>
              <a:path w="345637" h="351346">
                <a:moveTo>
                  <a:pt x="0" y="0"/>
                </a:moveTo>
                <a:lnTo>
                  <a:pt x="345637" y="0"/>
                </a:lnTo>
                <a:lnTo>
                  <a:pt x="345637" y="351346"/>
                </a:lnTo>
                <a:lnTo>
                  <a:pt x="0" y="351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2061</Words>
  <Application>Microsoft Office PowerPoint</Application>
  <PresentationFormat>Personnalisé</PresentationFormat>
  <Paragraphs>323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Poppins Bold</vt:lpstr>
      <vt:lpstr>Montserrat Medium</vt:lpstr>
      <vt:lpstr>Calibri</vt:lpstr>
      <vt:lpstr>Arial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QGIS</dc:title>
  <cp:lastModifiedBy>VACHAUDEZ Tristan</cp:lastModifiedBy>
  <cp:revision>3</cp:revision>
  <dcterms:created xsi:type="dcterms:W3CDTF">2006-08-16T00:00:00Z</dcterms:created>
  <dcterms:modified xsi:type="dcterms:W3CDTF">2026-04-30T09:44:53Z</dcterms:modified>
  <dc:identifier>DAHIIe38EP4</dc:identifier>
</cp:coreProperties>
</file>