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4" r:id="rId2"/>
    <p:sldId id="256" r:id="rId3"/>
    <p:sldId id="257" r:id="rId4"/>
    <p:sldId id="258" r:id="rId5"/>
    <p:sldId id="259" r:id="rId6"/>
    <p:sldId id="268" r:id="rId7"/>
    <p:sldId id="269" r:id="rId8"/>
    <p:sldId id="270" r:id="rId9"/>
    <p:sldId id="280" r:id="rId10"/>
    <p:sldId id="260" r:id="rId11"/>
    <p:sldId id="283" r:id="rId12"/>
    <p:sldId id="284" r:id="rId13"/>
    <p:sldId id="285" r:id="rId14"/>
    <p:sldId id="261" r:id="rId15"/>
    <p:sldId id="271" r:id="rId16"/>
    <p:sldId id="272" r:id="rId17"/>
    <p:sldId id="273" r:id="rId18"/>
    <p:sldId id="262" r:id="rId19"/>
    <p:sldId id="281" r:id="rId20"/>
    <p:sldId id="263" r:id="rId21"/>
    <p:sldId id="264" r:id="rId22"/>
    <p:sldId id="265" r:id="rId23"/>
    <p:sldId id="266" r:id="rId24"/>
    <p:sldId id="282" r:id="rId25"/>
    <p:sldId id="287" r:id="rId26"/>
    <p:sldId id="288" r:id="rId27"/>
    <p:sldId id="267" r:id="rId28"/>
    <p:sldId id="27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0A1A06B-C621-41F8-A0AA-5E96DEB3547B}">
          <p14:sldIdLst>
            <p14:sldId id="274"/>
            <p14:sldId id="256"/>
            <p14:sldId id="257"/>
            <p14:sldId id="258"/>
            <p14:sldId id="259"/>
            <p14:sldId id="268"/>
            <p14:sldId id="269"/>
            <p14:sldId id="270"/>
            <p14:sldId id="280"/>
            <p14:sldId id="260"/>
            <p14:sldId id="283"/>
            <p14:sldId id="284"/>
            <p14:sldId id="285"/>
            <p14:sldId id="261"/>
            <p14:sldId id="271"/>
            <p14:sldId id="272"/>
            <p14:sldId id="273"/>
            <p14:sldId id="262"/>
            <p14:sldId id="281"/>
            <p14:sldId id="263"/>
            <p14:sldId id="264"/>
            <p14:sldId id="265"/>
            <p14:sldId id="266"/>
            <p14:sldId id="282"/>
            <p14:sldId id="287"/>
            <p14:sldId id="288"/>
            <p14:sldId id="267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EBF1DE"/>
    <a:srgbClr val="000000"/>
    <a:srgbClr val="FFFFFF"/>
    <a:srgbClr val="37A61F"/>
    <a:srgbClr val="022C0C"/>
    <a:srgbClr val="3BB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4" autoAdjust="0"/>
    <p:restoredTop sz="84729" autoAdjust="0"/>
  </p:normalViewPr>
  <p:slideViewPr>
    <p:cSldViewPr snapToGrid="0" snapToObjects="1">
      <p:cViewPr varScale="1">
        <p:scale>
          <a:sx n="90" d="100"/>
          <a:sy n="90" d="100"/>
        </p:scale>
        <p:origin x="188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BE6B1-E908-4E22-A2A8-412A3D857AC6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25B5D-7A53-49C2-B40D-1F24D962FD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029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BD ALTI 1-5m et LIDAR 20cm</a:t>
            </a:r>
          </a:p>
          <a:p>
            <a:endParaRPr lang="fr-FR" dirty="0"/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Type de </a:t>
            </a:r>
            <a:r>
              <a:rPr lang="en-US" sz="2200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données</a:t>
            </a:r>
            <a:endParaRPr lang="en-US" sz="2200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lvl="1" algn="just">
              <a:lnSpc>
                <a:spcPts val="2900"/>
              </a:lnSpc>
            </a:pPr>
            <a:r>
              <a:rPr lang="en-US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LAS/LAZ </a:t>
            </a:r>
            <a:r>
              <a:rPr lang="en-US" sz="1900" dirty="0" err="1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Nuage</a:t>
            </a:r>
            <a:r>
              <a:rPr lang="en-US" sz="1900" dirty="0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 de points, </a:t>
            </a:r>
            <a:r>
              <a:rPr lang="en-US" sz="1900" dirty="0" err="1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données</a:t>
            </a:r>
            <a:r>
              <a:rPr lang="en-US" sz="1900" dirty="0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 brut</a:t>
            </a:r>
          </a:p>
          <a:p>
            <a:pPr lvl="1" algn="just">
              <a:lnSpc>
                <a:spcPts val="2900"/>
              </a:lnSpc>
            </a:pPr>
            <a:r>
              <a:rPr lang="en-US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MNS</a:t>
            </a: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sz="1900" dirty="0" err="1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modèle</a:t>
            </a:r>
            <a:r>
              <a:rPr lang="en-US" sz="1900" dirty="0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 numérique de surface</a:t>
            </a:r>
          </a:p>
          <a:p>
            <a:pPr lvl="1" algn="just">
              <a:lnSpc>
                <a:spcPts val="2900"/>
              </a:lnSpc>
            </a:pPr>
            <a:r>
              <a:rPr lang="en-US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MNT</a:t>
            </a: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900" dirty="0" err="1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modèle</a:t>
            </a:r>
            <a:r>
              <a:rPr lang="en-US" sz="1900" dirty="0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 numérique de terrain</a:t>
            </a:r>
            <a:endParaRPr lang="en-US" sz="1900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lvl="1" algn="just">
              <a:lnSpc>
                <a:spcPts val="2900"/>
              </a:lnSpc>
            </a:pPr>
            <a:r>
              <a:rPr lang="en-US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MNH</a:t>
            </a: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900" dirty="0" err="1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modèle</a:t>
            </a:r>
            <a:r>
              <a:rPr lang="en-US" sz="1900" dirty="0">
                <a:solidFill>
                  <a:srgbClr val="1D4ABD"/>
                </a:solidFill>
                <a:latin typeface="Poppins"/>
                <a:cs typeface="Poppins"/>
                <a:sym typeface="Poppins Bold"/>
              </a:rPr>
              <a:t> numérique de hauteur</a:t>
            </a:r>
            <a:endParaRPr lang="en-US" sz="1900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25B5D-7A53-49C2-B40D-1F24D962FDB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02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eoservices.ign.fr/lidarh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UgfYW-K0pw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 rot="12732101">
            <a:off x="-1586673" y="-4457020"/>
            <a:ext cx="7262949" cy="8218910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  <a:spcBef>
                <a:spcPct val="0"/>
              </a:spcBef>
            </a:pPr>
            <a:endParaRPr sz="1200"/>
          </a:p>
        </p:txBody>
      </p:sp>
      <p:sp>
        <p:nvSpPr>
          <p:cNvPr id="6" name="Freeform 6"/>
          <p:cNvSpPr/>
          <p:nvPr/>
        </p:nvSpPr>
        <p:spPr>
          <a:xfrm>
            <a:off x="36397" y="6172200"/>
            <a:ext cx="12598928" cy="3251292"/>
          </a:xfrm>
          <a:custGeom>
            <a:avLst/>
            <a:gdLst/>
            <a:ahLst/>
            <a:cxnLst/>
            <a:rect l="l" t="t" r="r" b="b"/>
            <a:pathLst>
              <a:path w="2362232" h="609600">
                <a:moveTo>
                  <a:pt x="220814" y="0"/>
                </a:moveTo>
                <a:lnTo>
                  <a:pt x="2344618" y="0"/>
                </a:lnTo>
                <a:cubicBezTo>
                  <a:pt x="2350280" y="0"/>
                  <a:pt x="2355596" y="2722"/>
                  <a:pt x="2358907" y="7315"/>
                </a:cubicBezTo>
                <a:cubicBezTo>
                  <a:pt x="2362218" y="11908"/>
                  <a:pt x="2363118" y="17813"/>
                  <a:pt x="2361328" y="23184"/>
                </a:cubicBezTo>
                <a:lnTo>
                  <a:pt x="2173584" y="586416"/>
                </a:lnTo>
                <a:cubicBezTo>
                  <a:pt x="2168969" y="600261"/>
                  <a:pt x="2156012" y="609600"/>
                  <a:pt x="2141418" y="609600"/>
                </a:cubicBezTo>
                <a:lnTo>
                  <a:pt x="17614" y="609600"/>
                </a:lnTo>
                <a:cubicBezTo>
                  <a:pt x="11952" y="609600"/>
                  <a:pt x="6636" y="606878"/>
                  <a:pt x="3325" y="602285"/>
                </a:cubicBezTo>
                <a:cubicBezTo>
                  <a:pt x="14" y="597692"/>
                  <a:pt x="-886" y="591787"/>
                  <a:pt x="904" y="586416"/>
                </a:cubicBezTo>
                <a:lnTo>
                  <a:pt x="188648" y="23184"/>
                </a:lnTo>
                <a:cubicBezTo>
                  <a:pt x="193263" y="9339"/>
                  <a:pt x="206220" y="0"/>
                  <a:pt x="2208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endParaRPr lang="fr-FR" sz="1200"/>
          </a:p>
        </p:txBody>
      </p:sp>
      <p:sp>
        <p:nvSpPr>
          <p:cNvPr id="9" name="Freeform 9"/>
          <p:cNvSpPr/>
          <p:nvPr/>
        </p:nvSpPr>
        <p:spPr>
          <a:xfrm>
            <a:off x="1111299" y="2042540"/>
            <a:ext cx="3311862" cy="331186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2"/>
            <a:stretch>
              <a:fillRect l="-34033" r="-34033"/>
            </a:stretch>
          </a:blipFill>
          <a:ln w="381000" cap="sq">
            <a:solidFill>
              <a:srgbClr val="0D9488">
                <a:alpha val="61176"/>
              </a:srgbClr>
            </a:solidFill>
            <a:prstDash val="solid"/>
            <a:miter/>
          </a:ln>
        </p:spPr>
        <p:txBody>
          <a:bodyPr/>
          <a:lstStyle/>
          <a:p>
            <a:endParaRPr lang="fr-FR" sz="1200" dirty="0"/>
          </a:p>
        </p:txBody>
      </p:sp>
      <p:sp>
        <p:nvSpPr>
          <p:cNvPr id="11" name="Freeform 11"/>
          <p:cNvSpPr/>
          <p:nvPr/>
        </p:nvSpPr>
        <p:spPr>
          <a:xfrm>
            <a:off x="715533" y="567145"/>
            <a:ext cx="230425" cy="234231"/>
          </a:xfrm>
          <a:custGeom>
            <a:avLst/>
            <a:gdLst/>
            <a:ahLst/>
            <a:cxnLst/>
            <a:rect l="l" t="t" r="r" b="b"/>
            <a:pathLst>
              <a:path w="345637" h="351346">
                <a:moveTo>
                  <a:pt x="0" y="0"/>
                </a:moveTo>
                <a:lnTo>
                  <a:pt x="345637" y="0"/>
                </a:lnTo>
                <a:lnTo>
                  <a:pt x="345637" y="351346"/>
                </a:lnTo>
                <a:lnTo>
                  <a:pt x="0" y="351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 sz="1200"/>
          </a:p>
        </p:txBody>
      </p:sp>
      <p:sp>
        <p:nvSpPr>
          <p:cNvPr id="12" name="TextBox 12"/>
          <p:cNvSpPr txBox="1"/>
          <p:nvPr/>
        </p:nvSpPr>
        <p:spPr>
          <a:xfrm>
            <a:off x="1038666" y="552661"/>
            <a:ext cx="1944213" cy="21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2"/>
              </a:lnSpc>
            </a:pPr>
            <a:r>
              <a:rPr lang="en-US" sz="126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</a:t>
            </a:r>
            <a:r>
              <a:rPr lang="en-US" sz="1265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QGIS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40215" y="2048243"/>
            <a:ext cx="5217937" cy="125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3"/>
              </a:lnSpc>
            </a:pPr>
            <a:r>
              <a:rPr lang="en-US" sz="4448" b="1" dirty="0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  <a:p>
            <a:pPr>
              <a:lnSpc>
                <a:spcPts val="4893"/>
              </a:lnSpc>
            </a:pPr>
            <a:r>
              <a:rPr lang="en-US" sz="4448" b="1" dirty="0" err="1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Niveau</a:t>
            </a:r>
            <a:r>
              <a:rPr lang="en-US" sz="4448" b="1" dirty="0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448" b="1" dirty="0" err="1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avancé</a:t>
            </a:r>
            <a:endParaRPr lang="en-US" sz="4448" b="1" dirty="0">
              <a:solidFill>
                <a:srgbClr val="0D948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40216" y="3698471"/>
            <a:ext cx="4610416" cy="590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91"/>
              </a:lnSpc>
            </a:pPr>
            <a:r>
              <a:rPr lang="en-US" sz="2083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Du </a:t>
            </a:r>
            <a:r>
              <a:rPr lang="en-US" sz="2083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géotraitement</a:t>
            </a:r>
            <a:r>
              <a:rPr lang="en-US" sz="2083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à </a:t>
            </a:r>
            <a:r>
              <a:rPr lang="en-US" sz="2083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l'atlas</a:t>
            </a:r>
            <a:r>
              <a:rPr lang="en-US" sz="2083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83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cartographiques</a:t>
            </a:r>
            <a:r>
              <a:rPr lang="en-US" sz="2083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96000" y="643378"/>
            <a:ext cx="1108367" cy="25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Accueil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5415" y="644854"/>
            <a:ext cx="1271388" cy="25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Programme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51153" y="628734"/>
            <a:ext cx="1277921" cy="25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1946969"/>
            <a:ext cx="3771900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575619"/>
            <a:ext cx="11601450" cy="705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 dirty="0">
                <a:solidFill>
                  <a:srgbClr val="0F172A"/>
                </a:solidFill>
                <a:latin typeface="Poppins"/>
              </a:rPr>
              <a:t>Bocage, Zones </a:t>
            </a:r>
            <a:r>
              <a:rPr sz="4800" b="1" i="0" u="none" dirty="0" err="1">
                <a:solidFill>
                  <a:srgbClr val="0F172A"/>
                </a:solidFill>
                <a:latin typeface="Poppins"/>
              </a:rPr>
              <a:t>Humides</a:t>
            </a:r>
            <a:r>
              <a:rPr sz="4800" b="1" i="0" u="none" dirty="0">
                <a:solidFill>
                  <a:srgbClr val="0F172A"/>
                </a:solidFill>
                <a:latin typeface="Poppins"/>
              </a:rPr>
              <a:t> &amp;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68080"/>
            <a:ext cx="11049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DM Sans"/>
              </a:rPr>
              <a:t>Diagnostic spatial, modélisation hydrologique et automatisation cartographique pour les équipes Grand Cycle de l'Eau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80473" y="2357437"/>
            <a:ext cx="843105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Module 1 : Diagnostic du Bocage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24326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DM Sans"/>
              </a:rPr>
              <a:t>Caractériser le maillage végétal, mesurer la densité des haies et analyser la continuité écologique des bassins versants.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4587"/>
            <a:ext cx="53340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14587"/>
            <a:ext cx="5334000" cy="2838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19387"/>
            <a:ext cx="49106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F766E"/>
                </a:solidFill>
                <a:latin typeface="Poppins SemiBold"/>
              </a:rPr>
              <a:t>1. </a:t>
            </a:r>
            <a:r>
              <a:rPr sz="1800" b="0" i="0" u="none" dirty="0" err="1">
                <a:solidFill>
                  <a:srgbClr val="0F766E"/>
                </a:solidFill>
                <a:latin typeface="Poppins SemiBold"/>
              </a:rPr>
              <a:t>Calcul</a:t>
            </a:r>
            <a:r>
              <a:rPr sz="1800" b="0" i="0" u="none" dirty="0">
                <a:solidFill>
                  <a:srgbClr val="0F766E"/>
                </a:solidFill>
                <a:latin typeface="Poppins SemiBold"/>
              </a:rPr>
              <a:t> de </a:t>
            </a:r>
            <a:r>
              <a:rPr sz="1800" b="0" i="0" u="none" dirty="0" err="1">
                <a:solidFill>
                  <a:srgbClr val="0F766E"/>
                </a:solidFill>
                <a:latin typeface="Poppins SemiBold"/>
              </a:rPr>
              <a:t>Linéaire</a:t>
            </a:r>
            <a:r>
              <a:rPr sz="1800" b="0" i="0" u="none" dirty="0">
                <a:solidFill>
                  <a:srgbClr val="0F766E"/>
                </a:solidFill>
                <a:latin typeface="Poppins SemiBold"/>
              </a:rPr>
              <a:t> &amp; </a:t>
            </a:r>
            <a:r>
              <a:rPr sz="1800" b="0" i="0" u="none" dirty="0" err="1">
                <a:solidFill>
                  <a:srgbClr val="0F766E"/>
                </a:solidFill>
                <a:latin typeface="Poppins SemiBold"/>
              </a:rPr>
              <a:t>Typologie</a:t>
            </a:r>
            <a:endParaRPr sz="1800" b="0" i="0" u="none" dirty="0">
              <a:solidFill>
                <a:srgbClr val="0F766E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925" y="3167062"/>
            <a:ext cx="4676775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Calcul automatique des longueurs via la calculatrice de champs (expression $length) sur les couches linéaires de haies.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062412"/>
            <a:ext cx="467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Categorisation attributaire selon la structure (haie haute, taillis, alignement d'arbres) et l'essence dominante pour l'évaluation de la biomasse.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19387"/>
            <a:ext cx="49106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oppins SemiBold"/>
              </a:rPr>
              <a:t>2. Analyse par Grille (Fishnet)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67062"/>
            <a:ext cx="467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Création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d'un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maillage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régulier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(ex: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carreaux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250m x 250m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ou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1km²) pour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calculer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la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densité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bocagère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mètres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par hectare (m/ha).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52887"/>
            <a:ext cx="467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Intersection spatiale du réseau de haies avec les grilles pour produire des cartes de densité comparatives inter-communales.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D9488"/>
                </a:solidFill>
                <a:latin typeface="Poppins"/>
              </a:rPr>
              <a:t>Métrage &amp; Densité Bocagère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4575"/>
            <a:ext cx="3492549" cy="3038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14575"/>
            <a:ext cx="3492549" cy="3038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14575"/>
            <a:ext cx="3492549" cy="3038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325" y="2609850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4217" y="3467100"/>
            <a:ext cx="316711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Poppins SemiBold"/>
              </a:rPr>
              <a:t>Continuite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14775"/>
            <a:ext cx="30162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Détection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connexions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et des ruptures physiques du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réseau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bocager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au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croisement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des infrastructures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routières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625" y="2609850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2517" y="3467100"/>
            <a:ext cx="316711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Poppins SemiBold"/>
              </a:rPr>
              <a:t>Frein Hydraulique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924" y="3914775"/>
            <a:ext cx="30162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Analyse des haies perpendiculaires à la pente pour évaluer l'interception du ruissellement de surface.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0924" y="2609850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0816" y="3467100"/>
            <a:ext cx="316711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0F172A"/>
                </a:solidFill>
                <a:latin typeface="Poppins SemiBold"/>
              </a:rPr>
              <a:t>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914775"/>
            <a:ext cx="30162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Création de zones tampons (5m à 30m) pour vérifier le taux de couverture végétale le long des cours d'eau.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4350" y="2790825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790825"/>
            <a:ext cx="3429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899" y="2790825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Analyse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Spatiale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de la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Trame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Verte</a:t>
            </a:r>
            <a:endParaRPr sz="2700" b="1" i="0" u="none" dirty="0">
              <a:solidFill>
                <a:srgbClr val="0D9488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81FFFB4-2A6E-8CCE-0B29-359614CB4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69732"/>
            <a:ext cx="9921240" cy="365207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BF3AC68-D0BE-A362-1EDC-674261D1B698}"/>
              </a:ext>
            </a:extLst>
          </p:cNvPr>
          <p:cNvSpPr txBox="1"/>
          <p:nvPr/>
        </p:nvSpPr>
        <p:spPr>
          <a:xfrm>
            <a:off x="996696" y="548640"/>
            <a:ext cx="98115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700" b="1" dirty="0">
                <a:solidFill>
                  <a:srgbClr val="0D9488"/>
                </a:solidFill>
                <a:latin typeface="Poppins"/>
              </a:rPr>
              <a:t>Analyse Spatiale de la Trame Verte (Bocage)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Trois méthodes d'analyse spatiale pour évaluer l'état écologique et le rôle hydraulique des haies.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endParaRPr lang="fr-FR" sz="1350" b="1" dirty="0">
              <a:solidFill>
                <a:srgbClr val="334155"/>
              </a:solidFill>
              <a:latin typeface="DM Sans"/>
            </a:endParaRPr>
          </a:p>
          <a:p>
            <a:endParaRPr lang="fr-FR" sz="1350" b="1" dirty="0">
              <a:solidFill>
                <a:srgbClr val="334155"/>
              </a:solidFill>
              <a:latin typeface="DM Sans"/>
            </a:endParaRPr>
          </a:p>
          <a:p>
            <a:endParaRPr lang="fr-FR" sz="1350" b="1" dirty="0">
              <a:solidFill>
                <a:srgbClr val="334155"/>
              </a:solidFill>
              <a:latin typeface="DM Sans"/>
            </a:endParaRPr>
          </a:p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Étape 1 : Analyse de la Continuité Écologique &amp; Ruptures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Objectif :   Identifier où le réseau bocager est interrompu par les infrastructures humaines (routes, voies ferrées).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1.   Préparation des couches :   Importer la couche linéaire des haies et la couche du réseau routier depuis le serveur.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 startAt="2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Détection des intersections (Coupures) :  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	- Aller dans le menu   Vecteur   &gt;   Outils de recherche   &gt;   Intersection  .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Couche source :   haies .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Couche d'intersection :   routes .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L'outil génère des points ou segments correspondant aux endroits où la haie est coupée.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3.   Calcul de la fragmentation :   Utiliser l'outil Scinder des lignes avec des lignes pour découper le réseau de haies au niveau des routes. Utiliser la Calculatrice de champs pour recalculer la longueur des tronçons continus (  $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length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 ).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D1D2F8D-7010-9884-C4C3-A387F66D1374}"/>
              </a:ext>
            </a:extLst>
          </p:cNvPr>
          <p:cNvSpPr txBox="1"/>
          <p:nvPr/>
        </p:nvSpPr>
        <p:spPr>
          <a:xfrm>
            <a:off x="886968" y="589228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334155"/>
                </a:solidFill>
                <a:latin typeface="DM Sans"/>
              </a:rPr>
              <a:t>Sources X:\Donnees_Metiers\SaintLoAgglo\SDEP</a:t>
            </a:r>
          </a:p>
        </p:txBody>
      </p:sp>
    </p:spTree>
    <p:extLst>
      <p:ext uri="{BB962C8B-B14F-4D97-AF65-F5344CB8AC3E}">
        <p14:creationId xmlns:p14="http://schemas.microsoft.com/office/powerpoint/2010/main" val="387134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4B3DCB7F-5137-26DB-1CAF-F47BD6D6D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69732"/>
            <a:ext cx="9921240" cy="365207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D79771B-13DF-5D2F-4384-81F4F4550C59}"/>
              </a:ext>
            </a:extLst>
          </p:cNvPr>
          <p:cNvSpPr txBox="1"/>
          <p:nvPr/>
        </p:nvSpPr>
        <p:spPr>
          <a:xfrm>
            <a:off x="1069848" y="1824714"/>
            <a:ext cx="992124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Étape 2 : Analyse du Frein Hydraulique (Haies </a:t>
            </a:r>
            <a:r>
              <a:rPr lang="fr-FR" dirty="0" err="1">
                <a:solidFill>
                  <a:srgbClr val="0F766E"/>
                </a:solidFill>
                <a:latin typeface="Poppins SemiBold"/>
              </a:rPr>
              <a:t>anti-érosives</a:t>
            </a:r>
            <a:r>
              <a:rPr lang="fr-FR" dirty="0">
                <a:solidFill>
                  <a:srgbClr val="0F766E"/>
                </a:solidFill>
                <a:latin typeface="Poppins SemiBold"/>
              </a:rPr>
              <a:t>)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Objectif :     Repérer les haies perpendiculaires à la pente qui retiennent le ruissellement.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Génération des courbes de niveau / Pente :  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Importer le MNT (ex. RGE ALTI).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Menu   Raster   &gt;   Extraction   &gt;   Courbes de niveau 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 startAt="2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Calcul de l'orientation (Aspect) :   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	 - Menu   Raster   &gt;   Analyse   &gt;   Exposition (Aspect)   pour obtenir l'orientation de la pente.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 startAt="3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Croisement Haies vs Pente :  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Calculer l'orientation principale du tronçon de haie via l'expression   $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geometry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  /  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main_angle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($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geometry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)  .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Comparer l'angle de la haie avec la direction de la pente. Une haie perpendiculaire à la pente (écart ~90°) agit comme un obstacle/frein hydraulique majeur. 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BAB532AB-9795-B6E5-6494-B88F5EA7B353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Analyse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Spatiale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de la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Trame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Verte</a:t>
            </a:r>
            <a:endParaRPr sz="2700" b="1" i="0" u="none" dirty="0">
              <a:solidFill>
                <a:srgbClr val="0D9488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4366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5882439-EEFD-2E8F-2154-4273B3FA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69732"/>
            <a:ext cx="9921240" cy="365207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5C3A115-BF20-9FAB-DA0E-6854B6979EFA}"/>
              </a:ext>
            </a:extLst>
          </p:cNvPr>
          <p:cNvSpPr txBox="1"/>
          <p:nvPr/>
        </p:nvSpPr>
        <p:spPr>
          <a:xfrm>
            <a:off x="1024128" y="1824714"/>
            <a:ext cx="9710928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Étape 3 : Buffer Ripisylve (Zones Tampons Péri-aquatiques)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Objectif :     Mesurer le taux de protection végétale le long du réseau hydrographique.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    Création du tampon autour des cours d'eau :  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Aller dans   Vecteur   &gt;   Outils de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géotraitement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  &gt;   Tampon (Buffer).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Distance :   Définir la largeur souhaitée (ex. 5 m, 10 m ou 30 m). </a:t>
            </a:r>
          </a:p>
          <a:p>
            <a:pPr marL="285750" indent="-285750">
              <a:buFontTx/>
              <a:buChar char="-"/>
            </a:pPr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 startAt="2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Extraction de la végétation présente dans la zone tampon :  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Aller dans   Vecteur   &gt;   Outils de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géotraitement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  &gt;   Intersection   (ou   Couper  ).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Saisir la couche de végétation/haies et la zone tampon générée.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 startAt="3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Calcul du taux de couverture :  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Diviser la surface végétale présente dans le tampon par la surface totale du tampon pour obtenir le % de ripisylve effectif . 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2373A3D6-10FD-49C2-3896-21CEB8975BA1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Analyse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Spatiale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de la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Trame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Verte</a:t>
            </a:r>
            <a:endParaRPr sz="2700" b="1" i="0" u="none" dirty="0">
              <a:solidFill>
                <a:srgbClr val="0D9488"/>
              </a:solidFill>
              <a:latin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9544A25-55B8-9949-E452-041A95F92639}"/>
              </a:ext>
            </a:extLst>
          </p:cNvPr>
          <p:cNvSpPr txBox="1"/>
          <p:nvPr/>
        </p:nvSpPr>
        <p:spPr>
          <a:xfrm>
            <a:off x="886967" y="5892284"/>
            <a:ext cx="77903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rgbClr val="334155"/>
                </a:solidFill>
                <a:latin typeface="DM Sans"/>
              </a:rPr>
              <a:t>Sources X:\Donnees_Metiers\SaintLoAgglo\SDEP</a:t>
            </a:r>
          </a:p>
          <a:p>
            <a:r>
              <a:rPr lang="fr-FR" sz="1050" dirty="0">
                <a:solidFill>
                  <a:srgbClr val="334155"/>
                </a:solidFill>
                <a:latin typeface="DM Sans"/>
              </a:rPr>
              <a:t>X:\Donnees_Metiers\SaintLoAgglo\PerimetresCaptages\Aire alimentation </a:t>
            </a:r>
            <a:r>
              <a:rPr lang="fr-FR" sz="1050" dirty="0" err="1">
                <a:solidFill>
                  <a:srgbClr val="334155"/>
                </a:solidFill>
                <a:latin typeface="DM Sans"/>
              </a:rPr>
              <a:t>Dézert</a:t>
            </a:r>
            <a:r>
              <a:rPr lang="fr-FR" sz="1050" dirty="0">
                <a:solidFill>
                  <a:srgbClr val="334155"/>
                </a:solidFill>
                <a:latin typeface="DM Sans"/>
              </a:rPr>
              <a:t>\</a:t>
            </a:r>
            <a:r>
              <a:rPr lang="fr-FR" sz="1050" dirty="0" err="1">
                <a:solidFill>
                  <a:srgbClr val="334155"/>
                </a:solidFill>
                <a:latin typeface="DM Sans"/>
              </a:rPr>
              <a:t>hydraulique_douce</a:t>
            </a:r>
            <a:r>
              <a:rPr lang="fr-FR" sz="1050" dirty="0">
                <a:solidFill>
                  <a:srgbClr val="334155"/>
                </a:solidFill>
                <a:latin typeface="DM Sans"/>
              </a:rPr>
              <a:t>\</a:t>
            </a:r>
            <a:r>
              <a:rPr lang="fr-FR" sz="1050" dirty="0" err="1">
                <a:solidFill>
                  <a:srgbClr val="334155"/>
                </a:solidFill>
                <a:latin typeface="DM Sans"/>
              </a:rPr>
              <a:t>qfield</a:t>
            </a:r>
            <a:endParaRPr lang="fr-FR" sz="1050" dirty="0">
              <a:solidFill>
                <a:srgbClr val="334155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6663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D78DC8D-7DB3-76DA-FD1A-2B243EDB7E74}"/>
              </a:ext>
            </a:extLst>
          </p:cNvPr>
          <p:cNvSpPr txBox="1"/>
          <p:nvPr/>
        </p:nvSpPr>
        <p:spPr>
          <a:xfrm>
            <a:off x="1035558" y="609402"/>
            <a:ext cx="10549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700" b="1" dirty="0">
                <a:solidFill>
                  <a:srgbClr val="0D9488"/>
                </a:solidFill>
                <a:latin typeface="Poppins"/>
              </a:rPr>
              <a:t>Exercice 1 : Diagnostic de fragmentation bocagère et taux de ripisylve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CA4A9E-D0FE-F870-1807-BDBAA7F39288}"/>
              </a:ext>
            </a:extLst>
          </p:cNvPr>
          <p:cNvSpPr txBox="1"/>
          <p:nvPr/>
        </p:nvSpPr>
        <p:spPr>
          <a:xfrm>
            <a:off x="1035558" y="1856505"/>
            <a:ext cx="60944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50" b="1" dirty="0">
                <a:solidFill>
                  <a:srgbClr val="334155"/>
                </a:solidFill>
                <a:latin typeface="DM Sans"/>
              </a:rPr>
              <a:t>Objectif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: Évaluer la continuité de la trame verte, repérer les coupures routières et mesurer le taux de protection végétale des cours d'eau.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C4182F-167C-2778-F139-FC56FAD0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558" y="2688109"/>
            <a:ext cx="1017152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350" b="1" dirty="0">
                <a:solidFill>
                  <a:srgbClr val="334155"/>
                </a:solidFill>
                <a:latin typeface="DM Sans"/>
              </a:rPr>
              <a:t>Consignes pas à pas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50" b="1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Analyse des ruptures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Réaliser une Intersection entre la couche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haies_bassin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et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reseau_routier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pour générer la couche des points de rupture (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points_rupture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Découper les haies avec l'outil Scinder des lignes avec des lignes.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Avec la Calculatrice de champs, ajouter un champ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longueur_m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calculé avec $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length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Filtrer les haies pour isoler uniquement les tronçons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continuts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de plus de 150 mètres.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Calcul du taux de ripisylve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Générer une zone tampon (Buffer) de 10 mètres autour de la couche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cours_deau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Découper la couche des haies avec ce tampon (Vecteur &gt; Outils de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géotraitement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&gt; Couper).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Calculer la longueur totale de haies présentes dans la bande des 10 m et la diviser par le linéaire total du cours d'eau pour obtenir le % de ripisylve résiduelle.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Livrable attendu : Une couche vectorielle des haies qualifiées (Tronçon continu, Tronçon fragmenté) et la valeur globale du % de ripisylve du bassin.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71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0469" y="2357437"/>
            <a:ext cx="849106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Module 2 : Zones Humides &amp; TWI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24326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Modéliser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la </a:t>
            </a: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topographie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et </a:t>
            </a: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prédire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l'accumulation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d'eau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à </a:t>
            </a: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partir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du </a:t>
            </a:r>
            <a:r>
              <a:rPr sz="1650" b="0" i="0" u="none" dirty="0" err="1">
                <a:solidFill>
                  <a:srgbClr val="64748B"/>
                </a:solidFill>
                <a:latin typeface="DM Sans"/>
              </a:rPr>
              <a:t>Modèle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Numérique de Terrain (MNT</a:t>
            </a:r>
            <a:r>
              <a:rPr lang="fr-FR" sz="1650" b="0" i="0" u="none" dirty="0">
                <a:solidFill>
                  <a:srgbClr val="64748B"/>
                </a:solidFill>
                <a:latin typeface="DM Sans"/>
              </a:rPr>
              <a:t> LIDAR ou</a:t>
            </a:r>
            <a:r>
              <a:rPr sz="1650" b="0" i="0" u="none" dirty="0">
                <a:solidFill>
                  <a:srgbClr val="64748B"/>
                </a:solidFill>
                <a:latin typeface="DM Sans"/>
              </a:rPr>
              <a:t> RGE ALTI 1m).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655D272A-769B-D915-1E02-EF4AD9E6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5334000" cy="3752551"/>
          </a:xfrm>
          <a:prstGeom prst="rect">
            <a:avLst/>
          </a:prstGeom>
        </p:spPr>
      </p:pic>
      <p:pic>
        <p:nvPicPr>
          <p:cNvPr id="7" name="Picture 3" descr="image.png">
            <a:extLst>
              <a:ext uri="{FF2B5EF4-FFF2-40B4-BE49-F238E27FC236}">
                <a16:creationId xmlns:a16="http://schemas.microsoft.com/office/drawing/2014/main" id="{599F2700-BA18-FC43-A88D-1AE2FB49B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19250"/>
            <a:ext cx="5334000" cy="375255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7600677-F08E-B412-5554-1ECD9ED39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064" y="356161"/>
            <a:ext cx="47743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50" b="1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700" b="1" dirty="0">
                <a:solidFill>
                  <a:srgbClr val="0D9488"/>
                </a:solidFill>
                <a:latin typeface="Poppins"/>
              </a:rPr>
              <a:t>MNT LIDARHD ou BDALTI</a:t>
            </a:r>
            <a:endParaRPr lang="fr-FR" altLang="fr-FR" sz="270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645DA8-47C3-8906-BE1F-557413679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44" y="1871734"/>
            <a:ext cx="4698111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solidFill>
                  <a:srgbClr val="0F766E"/>
                </a:solidFill>
                <a:latin typeface="Poppins SemiBold"/>
              </a:rPr>
              <a:t>Télécharger les dalles </a:t>
            </a:r>
            <a:r>
              <a:rPr lang="fr-FR" altLang="fr-FR" dirty="0" err="1">
                <a:solidFill>
                  <a:srgbClr val="0F766E"/>
                </a:solidFill>
                <a:latin typeface="Poppins SemiBold"/>
              </a:rPr>
              <a:t>LiDAR</a:t>
            </a:r>
            <a:r>
              <a:rPr lang="fr-FR" altLang="fr-FR" dirty="0">
                <a:solidFill>
                  <a:srgbClr val="0F766E"/>
                </a:solidFill>
                <a:latin typeface="Poppins SemiBold"/>
              </a:rPr>
              <a:t> HD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au format </a:t>
            </a:r>
            <a:r>
              <a:rPr lang="fr-FR" altLang="fr-FR" sz="1350" b="1" dirty="0">
                <a:latin typeface="DM Sans"/>
              </a:rPr>
              <a:t>.</a:t>
            </a:r>
            <a:r>
              <a:rPr lang="fr-FR" altLang="fr-FR" sz="1350" b="1" dirty="0" err="1">
                <a:latin typeface="DM Sans"/>
              </a:rPr>
              <a:t>copc.laz</a:t>
            </a:r>
            <a:r>
              <a:rPr lang="fr-FR" altLang="fr-FR" sz="1350" b="1" dirty="0">
                <a:latin typeface="DM Sans"/>
              </a:rPr>
              <a:t> 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(format optimisé et indexé).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Option A (Recommandée - Directement dans QGIS)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Installez le plugin QGIS nommé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PointCloudFR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Extensions &gt; Installer/Gérer les extensions.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Ouvrez l'extension : une carte interactive s'affiche.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Zoomez sur votre zone d'étude / bassin versant et téléchargez directement les dalles .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copc.laz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souhaitées sur votre disque dur.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Option B (Via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Géoservices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IGN)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Rendez-vous sur 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geoservices.ign.fr/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lidarhd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Téléchargez la couche du tableau d'assemblage ou sélectionnez graphiquement les dalles classées sur la carte interactive.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DBA0902-149B-B956-3073-C418D78CB322}"/>
              </a:ext>
            </a:extLst>
          </p:cNvPr>
          <p:cNvSpPr txBox="1"/>
          <p:nvPr/>
        </p:nvSpPr>
        <p:spPr>
          <a:xfrm>
            <a:off x="6629400" y="1871734"/>
            <a:ext cx="5095875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dirty="0">
                <a:solidFill>
                  <a:srgbClr val="0F766E"/>
                </a:solidFill>
                <a:latin typeface="Poppins SemiBold"/>
              </a:rPr>
              <a:t>Visualiser le nuage de points 3D dans QGIS</a:t>
            </a:r>
          </a:p>
          <a:p>
            <a:pPr marL="0" lvl="1" indent="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Glissez-déposez vos fichiers .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copc.laz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directement dans le panneau Couches de QGIS.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Affichage 3D : Menu Vue &gt; Nouvelle vue de la carte 3D pour explorer le relief en 3 dimensions.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50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AC4AD2DF-EE64-AD61-22C4-D33EE2378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8" y="935790"/>
            <a:ext cx="10848976" cy="475063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23ABAB3-7133-48E2-5452-41A44029028C}"/>
              </a:ext>
            </a:extLst>
          </p:cNvPr>
          <p:cNvSpPr txBox="1"/>
          <p:nvPr/>
        </p:nvSpPr>
        <p:spPr>
          <a:xfrm>
            <a:off x="1569395" y="1354601"/>
            <a:ext cx="5212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Générer le MNT</a:t>
            </a:r>
          </a:p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C56E5F-3883-6D3B-9319-D79CCA98A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244" y="1715867"/>
            <a:ext cx="10077450" cy="384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1. Ouvrez la Boîte d'outils de traitement (Ctrl + Alt + T).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2. Cherchez l'outil nativement intégré sous QGIS : Nuage de points de PDAL &gt; Exporter vers raster (ou Export to raster (TIN)).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3. Renseignez les paramètres : 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Couche source : Sélectionner le fichier .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copc.laz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.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Attribut : Z (Altitude). 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Résolution : 0.5 ou 1.0 mètre (1.0m offre le meilleur compromis poids/précision). 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Filtre par expression / Filtre de classe : Entrez l'expression de filtrage : Classification = 2 (isole uniquement les points du Sol).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4. Nom de fichier de sortie : MNT_Lidar_1m.tif.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200" dirty="0">
                <a:latin typeface="DM Sans"/>
              </a:rPr>
              <a:t>Astuce : Si vous avez plusieurs dalles, traitez-les séparément puis créez un Raster Virtuel (VRT) via le menu Raster &gt; Divers &gt; Construire un raster virtuel pour fusionner l'affichage sans surcharger la mémoire.</a:t>
            </a:r>
          </a:p>
        </p:txBody>
      </p:sp>
    </p:spTree>
    <p:extLst>
      <p:ext uri="{BB962C8B-B14F-4D97-AF65-F5344CB8AC3E}">
        <p14:creationId xmlns:p14="http://schemas.microsoft.com/office/powerpoint/2010/main" val="34941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image.png">
            <a:extLst>
              <a:ext uri="{FF2B5EF4-FFF2-40B4-BE49-F238E27FC236}">
                <a16:creationId xmlns:a16="http://schemas.microsoft.com/office/drawing/2014/main" id="{242A353F-76AC-124F-8684-2559C54CA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51442"/>
            <a:ext cx="4895850" cy="1744533"/>
          </a:xfrm>
          <a:prstGeom prst="rect">
            <a:avLst/>
          </a:prstGeom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BC6561E0-E724-A032-E9AA-A45A58680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28952"/>
            <a:ext cx="4895850" cy="2262024"/>
          </a:xfrm>
          <a:prstGeom prst="rect">
            <a:avLst/>
          </a:prstGeom>
        </p:spPr>
      </p:pic>
      <p:pic>
        <p:nvPicPr>
          <p:cNvPr id="9" name="Picture 3" descr="image.png">
            <a:extLst>
              <a:ext uri="{FF2B5EF4-FFF2-40B4-BE49-F238E27FC236}">
                <a16:creationId xmlns:a16="http://schemas.microsoft.com/office/drawing/2014/main" id="{F0D3C87D-891A-6B66-C403-C8C979352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728951"/>
            <a:ext cx="5334000" cy="4167024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35AC14E-A610-E573-1768-DA8FCFF4F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94437"/>
            <a:ext cx="82128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50" b="1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700" b="1" dirty="0">
                <a:solidFill>
                  <a:srgbClr val="0D9488"/>
                </a:solidFill>
                <a:latin typeface="Poppins"/>
              </a:rPr>
              <a:t>Exploiter le MNT pour l’Hydrologie</a:t>
            </a:r>
            <a:endParaRPr lang="fr-FR" altLang="fr-FR" sz="270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0D890D-DE97-CEF3-35A3-0BDEE0444B55}"/>
              </a:ext>
            </a:extLst>
          </p:cNvPr>
          <p:cNvSpPr txBox="1"/>
          <p:nvPr/>
        </p:nvSpPr>
        <p:spPr>
          <a:xfrm>
            <a:off x="776287" y="1990725"/>
            <a:ext cx="4605337" cy="4762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D9488"/>
                </a:solidFill>
                <a:latin typeface="Poppins"/>
              </a:rPr>
              <a:t>Résumé des classifications </a:t>
            </a:r>
            <a:r>
              <a:rPr lang="fr-FR" sz="1400" b="1" dirty="0" err="1">
                <a:solidFill>
                  <a:srgbClr val="0D9488"/>
                </a:solidFill>
                <a:latin typeface="Poppins"/>
              </a:rPr>
              <a:t>LiDAR</a:t>
            </a:r>
            <a:r>
              <a:rPr lang="fr-FR" sz="1400" b="1" dirty="0">
                <a:solidFill>
                  <a:srgbClr val="0D9488"/>
                </a:solidFill>
                <a:latin typeface="Poppins"/>
              </a:rPr>
              <a:t> utiles pour l'eau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Classe 2 : Sol (Permet de créer le MNT)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Classe 3, 4, 5 : Végétation basse, moyenne, haute (Utile pour isoler la ripisylve et le bocage)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Classe 9 : Eau (Permet d'isoler les contours des plans d'eau/fleuves)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0D9488"/>
                </a:solidFill>
                <a:latin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Intégration et manipulation du </a:t>
            </a:r>
            <a:r>
              <a:rPr lang="fr-FR" sz="1350" dirty="0" err="1">
                <a:solidFill>
                  <a:srgbClr val="0D9488"/>
                </a:solidFill>
                <a:latin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LiDAR</a:t>
            </a:r>
            <a:r>
              <a:rPr lang="fr-FR" sz="1350" dirty="0">
                <a:solidFill>
                  <a:srgbClr val="0D9488"/>
                </a:solidFill>
                <a:latin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HD dans QGIS</a:t>
            </a:r>
            <a:r>
              <a:rPr lang="fr-FR" sz="1350" dirty="0">
                <a:solidFill>
                  <a:srgbClr val="0D9488"/>
                </a:solidFill>
                <a:latin typeface="DM Sans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400" b="1" dirty="0">
              <a:solidFill>
                <a:srgbClr val="0D9488"/>
              </a:solidFill>
              <a:latin typeface="Poppins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400" b="1" dirty="0">
                <a:solidFill>
                  <a:srgbClr val="0D9488"/>
                </a:solidFill>
                <a:latin typeface="Poppins"/>
              </a:rPr>
              <a:t>Profils en travers et lit majeur (Profils de berges)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Installez le plugin Profile Tool ou Terrain Profile.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Tracez une ligne perpendiculaire au cours d'eau : le plugin extrait instantanément la coupe de la berge à la précision centimétrique (utile pour identifier l'incertitude du lit, l'incision ou les digues).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1D9E512-ABE6-4663-BE72-0B6DB3F151D0}"/>
              </a:ext>
            </a:extLst>
          </p:cNvPr>
          <p:cNvSpPr txBox="1"/>
          <p:nvPr/>
        </p:nvSpPr>
        <p:spPr>
          <a:xfrm>
            <a:off x="6543675" y="2165688"/>
            <a:ext cx="5076825" cy="2268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400" b="1" dirty="0">
                <a:solidFill>
                  <a:srgbClr val="0D9488"/>
                </a:solidFill>
                <a:latin typeface="Poppins"/>
              </a:rPr>
              <a:t>Correction du MNT et Réseau d'écoulement (SAGA / GRASS)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Suppression des cuvettes : Dans la boîte d'outils, lancez SAGA &gt; Fill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Sinks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(Wang &amp; Liu) sur votre MNT.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Accumulation de flux : Lancez SAGA &gt;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Catchment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Area sur le MNT corrigé pour générer la carte des axes de ruissellement et du chevelu hydrographique</a:t>
            </a:r>
          </a:p>
        </p:txBody>
      </p:sp>
    </p:spTree>
    <p:extLst>
      <p:ext uri="{BB962C8B-B14F-4D97-AF65-F5344CB8AC3E}">
        <p14:creationId xmlns:p14="http://schemas.microsoft.com/office/powerpoint/2010/main" val="268536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822"/>
            <a:ext cx="5334000" cy="3075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95822"/>
            <a:ext cx="5334000" cy="30759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124497"/>
            <a:ext cx="4676775" cy="7518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600622"/>
            <a:ext cx="49106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0F766E"/>
                </a:solidFill>
                <a:latin typeface="Poppins SemiBold"/>
              </a:rPr>
              <a:t>Formule</a:t>
            </a:r>
            <a:r>
              <a:rPr sz="1800" b="0" i="0" u="none" dirty="0">
                <a:solidFill>
                  <a:srgbClr val="0F766E"/>
                </a:solidFill>
                <a:latin typeface="Poppins SemiBold"/>
              </a:rPr>
              <a:t> du Topographic Wetness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066877"/>
            <a:ext cx="46767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DM Sans"/>
              </a:rPr>
              <a:t>a 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Aire contributive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spécifique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(surface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drainée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par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unité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largeur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courbe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niveau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695527"/>
            <a:ext cx="46767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DM Sans"/>
              </a:rPr>
              <a:t>β 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Pente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locale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radians.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600622"/>
            <a:ext cx="49106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oppins SemiBold"/>
              </a:rPr>
              <a:t>Application &amp; Interprétation dans QGIS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048297"/>
            <a:ext cx="46767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Calcul réalisé via le menu Traitement (outils SAGA Topographic Wetness Index ou GRASS r.topidx).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686472"/>
            <a:ext cx="46767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DM Sans"/>
              </a:rPr>
              <a:t>Un score TWI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élevé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indique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une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zone de convergence des flux et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faible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pente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, servant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d'indicateur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pré-localisation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des zones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humides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ou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dépressions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d'inondation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492" y="3400722"/>
            <a:ext cx="1493490" cy="2851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Indice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d'Humidité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Topographique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TWI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69811E57-4ED2-89F8-0ADD-FC4C14AB3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2" y="1485084"/>
            <a:ext cx="5002390" cy="3592698"/>
          </a:xfrm>
          <a:prstGeom prst="rect">
            <a:avLst/>
          </a:prstGeom>
        </p:spPr>
      </p:pic>
      <p:pic>
        <p:nvPicPr>
          <p:cNvPr id="5" name="Picture 3" descr="image.png">
            <a:extLst>
              <a:ext uri="{FF2B5EF4-FFF2-40B4-BE49-F238E27FC236}">
                <a16:creationId xmlns:a16="http://schemas.microsoft.com/office/drawing/2014/main" id="{DE0D2501-4EAF-6706-4BC4-FF4F8EDB4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698" y="1485084"/>
            <a:ext cx="5002390" cy="359269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AA868E7-D5DB-83FD-61A9-2B36216F9AED}"/>
              </a:ext>
            </a:extLst>
          </p:cNvPr>
          <p:cNvSpPr txBox="1"/>
          <p:nvPr/>
        </p:nvSpPr>
        <p:spPr>
          <a:xfrm>
            <a:off x="1097902" y="1730712"/>
            <a:ext cx="4724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Étape 1  : Préparation du MNT (Traitement des cuvettes) </a:t>
            </a:r>
          </a:p>
          <a:p>
            <a:endParaRPr lang="fr-FR" sz="1350" dirty="0">
              <a:solidFill>
                <a:srgbClr val="0F766E"/>
              </a:solidFill>
              <a:latin typeface="Poppins SemiBold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Pour que l'eau s'écoule correctement dans le modèle numérique, il faut supprimer les dépressions/trous artificiels du MNT. 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1. 	Ouvrir la Boîte d'outils de traitement (Ctrl + Alt + T).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2. 	Chercher l'outil SAGA :  Fill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sinks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(Wang &amp; Liu) ou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r.fill.dir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sous GRASS.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3.	Sélectionner votre MNT en entrée. Cet outil produit un MNT corrigé sans dépressions fermées ( 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MNT_Filled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). </a:t>
            </a:r>
          </a:p>
          <a:p>
            <a:pPr marL="342900" indent="-342900">
              <a:buAutoNum type="arabicPeriod" startAt="3"/>
            </a:pPr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pPr marL="342900" indent="-342900">
              <a:buAutoNum type="arabicPeriod" startAt="3"/>
            </a:pPr>
            <a:endParaRPr lang="fr-FR" sz="135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9BF199-70AA-A056-8F2E-7E7A04CDD2D2}"/>
              </a:ext>
            </a:extLst>
          </p:cNvPr>
          <p:cNvSpPr txBox="1"/>
          <p:nvPr/>
        </p:nvSpPr>
        <p:spPr>
          <a:xfrm>
            <a:off x="6692646" y="1730712"/>
            <a:ext cx="4679442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Étape 2 : Calcul de la Pente et de l'Aire Contributive.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1.	Calcul de la pente </a:t>
            </a:r>
            <a:r>
              <a:rPr lang="el-GR" sz="1350" b="1" i="0" u="none" dirty="0">
                <a:solidFill>
                  <a:srgbClr val="334155"/>
                </a:solidFill>
                <a:latin typeface="DM Sans"/>
              </a:rPr>
              <a:t>β 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en radians :    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	Menu   Raster   &gt;   Analyse   &gt;   Pente  .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 	Attention :   Veiller à exporter la pente en radians </a:t>
            </a:r>
            <a:r>
              <a:rPr lang="fr-FR" sz="1350" u="sng" dirty="0">
                <a:solidFill>
                  <a:srgbClr val="334155"/>
                </a:solidFill>
                <a:latin typeface="DM Sans"/>
              </a:rPr>
              <a:t>nécessaire pour la fonction trigonométrique tan beta.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2.       Calcul de la surface d'accumulation (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Catchment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Area </a:t>
            </a:r>
            <a:r>
              <a:rPr lang="fr-FR" sz="1350" b="1" i="1" dirty="0">
                <a:solidFill>
                  <a:srgbClr val="334155"/>
                </a:solidFill>
                <a:latin typeface="DM Sans"/>
              </a:rPr>
              <a:t>a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) :    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	Dans la Boîte d'outils, utiliser l'outil SAGA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Catchment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area (ou Flow Accumulation ).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-	Sélectionner le </a:t>
            </a:r>
            <a:r>
              <a:rPr lang="fr-FR" sz="1350" dirty="0" err="1">
                <a:solidFill>
                  <a:srgbClr val="334155"/>
                </a:solidFill>
                <a:latin typeface="DM Sans"/>
              </a:rPr>
              <a:t>MNT_Filled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. L'outil calcule pour chaque pixel le nombre de pixels situés en amont qui s'y déversent.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55154528-DBDE-C74D-DC07-7D11CAEDFB69}"/>
              </a:ext>
            </a:extLst>
          </p:cNvPr>
          <p:cNvSpPr txBox="1"/>
          <p:nvPr/>
        </p:nvSpPr>
        <p:spPr>
          <a:xfrm>
            <a:off x="819912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Indice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d'Humidité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Topographique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TWI</a:t>
            </a:r>
          </a:p>
        </p:txBody>
      </p:sp>
    </p:spTree>
    <p:extLst>
      <p:ext uri="{BB962C8B-B14F-4D97-AF65-F5344CB8AC3E}">
        <p14:creationId xmlns:p14="http://schemas.microsoft.com/office/powerpoint/2010/main" val="4203778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image.png">
            <a:extLst>
              <a:ext uri="{FF2B5EF4-FFF2-40B4-BE49-F238E27FC236}">
                <a16:creationId xmlns:a16="http://schemas.microsoft.com/office/drawing/2014/main" id="{2DBB67DE-3891-2984-16F1-B9C056061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283137"/>
            <a:ext cx="9921240" cy="4107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DA5259B-C9B3-13F7-484F-04881F712A09}"/>
                  </a:ext>
                </a:extLst>
              </p:cNvPr>
              <p:cNvSpPr txBox="1"/>
              <p:nvPr/>
            </p:nvSpPr>
            <p:spPr>
              <a:xfrm>
                <a:off x="1189498" y="1409665"/>
                <a:ext cx="9522045" cy="4107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rgbClr val="0F766E"/>
                    </a:solidFill>
                    <a:latin typeface="Poppins SemiBold"/>
                  </a:rPr>
                  <a:t>Étape 3 : Calcul de l'Indice TWI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Vous avez deux possibilités pour finaliser le calcul :     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    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Option A : Utiliser l'outil tout-en-un de SAGA (Recommandé)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1. Dans la boîte d'outils de traitement, rechercher </a:t>
                </a:r>
                <a:r>
                  <a:rPr lang="fr-FR" sz="1350" dirty="0" err="1">
                    <a:solidFill>
                      <a:srgbClr val="334155"/>
                    </a:solidFill>
                    <a:latin typeface="DM Sans"/>
                  </a:rPr>
                  <a:t>Topographic</a:t>
                </a:r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 </a:t>
                </a:r>
                <a:r>
                  <a:rPr lang="fr-FR" sz="1350" dirty="0" err="1">
                    <a:solidFill>
                      <a:srgbClr val="334155"/>
                    </a:solidFill>
                    <a:latin typeface="DM Sans"/>
                  </a:rPr>
                  <a:t>Wetness</a:t>
                </a:r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 Index (TWI) (SAGA).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2. Indiquer le MNT corrigé ou directement la carte d'accumulation et la carte des pentes.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3. Valider pour générer automatiquement la couche raster TWI.         </a:t>
                </a:r>
              </a:p>
              <a:p>
                <a:endParaRPr lang="fr-FR" sz="1350" dirty="0">
                  <a:solidFill>
                    <a:srgbClr val="334155"/>
                  </a:solidFill>
                  <a:latin typeface="DM Sans"/>
                </a:endParaRP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Option B : Via la Calculatrice Raster QGIS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Si vous souhaitez composer la formule vous-même :</a:t>
                </a:r>
              </a:p>
              <a:p>
                <a:endParaRPr lang="fr-FR" sz="1350" dirty="0">
                  <a:solidFill>
                    <a:srgbClr val="334155"/>
                  </a:solidFill>
                  <a:latin typeface="DM Sans"/>
                </a:endParaRP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1. Menu   Raster   &gt;   Calculatrice Raster  </a:t>
                </a: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2. Saisir la formule 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b="1" i="1" dirty="0" smtClean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b="1" i="0" dirty="0" smtClean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fr-FR" b="1" i="1" dirty="0" smtClean="0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b="1" i="1" dirty="0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1" i="1" dirty="0" err="1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𝑪𝒂𝒕𝒄𝒉𝒎𝒆𝒏𝒕</m:t>
                                </m:r>
                                <m:r>
                                  <a:rPr lang="fr-FR" b="1" i="1" dirty="0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a:rPr lang="fr-FR" b="1" i="1" dirty="0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𝑨𝒓𝒆𝒂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fr-FR" b="1" i="1" dirty="0" smtClean="0">
                                        <a:solidFill>
                                          <a:srgbClr val="33415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fr-FR" b="1" i="0" dirty="0" smtClean="0">
                                        <a:solidFill>
                                          <a:srgbClr val="33415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𝐭𝐚𝐧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fr-FR" b="1" i="1" dirty="0" smtClean="0">
                                            <a:solidFill>
                                              <a:srgbClr val="33415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FR" b="1" i="1" dirty="0" smtClean="0">
                                                <a:solidFill>
                                                  <a:srgbClr val="33415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FR" b="1" i="1" dirty="0" smtClean="0">
                                                <a:solidFill>
                                                  <a:srgbClr val="33415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𝑷𝒆𝒏𝒕𝒆</m:t>
                                            </m:r>
                                            <m:r>
                                              <a:rPr lang="fr-FR" b="1" i="1" dirty="0" smtClean="0">
                                                <a:solidFill>
                                                  <a:srgbClr val="33415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</m:e>
                                          <m:e>
                                            <m:r>
                                              <a:rPr lang="fr-FR" b="1" i="1" dirty="0" smtClean="0">
                                                <a:solidFill>
                                                  <a:srgbClr val="33415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𝒓𝒂𝒅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e>
                                </m:func>
                                <m:r>
                                  <a:rPr lang="fr-FR" b="1" i="1" dirty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fr-FR" b="1" i="1" dirty="0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FR" b="1" i="1" dirty="0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r-FR" b="1" i="1" dirty="0" smtClean="0">
                                    <a:solidFill>
                                      <a:srgbClr val="334155"/>
                                    </a:solidFill>
                                    <a:latin typeface="Cambria Math" panose="02040503050406030204" pitchFamily="18" charset="0"/>
                                  </a:rPr>
                                  <m:t>𝟎𝟎𝟏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350" b="1" dirty="0">
                  <a:solidFill>
                    <a:srgbClr val="334155"/>
                  </a:solidFill>
                  <a:latin typeface="DM Sans"/>
                </a:endParaRPr>
              </a:p>
              <a:p>
                <a:endParaRPr lang="fr-FR" sz="1350" dirty="0">
                  <a:solidFill>
                    <a:srgbClr val="334155"/>
                  </a:solidFill>
                  <a:latin typeface="DM Sans"/>
                </a:endParaRPr>
              </a:p>
              <a:p>
                <a:r>
                  <a:rPr lang="fr-FR" sz="1350" dirty="0">
                    <a:solidFill>
                      <a:srgbClr val="334155"/>
                    </a:solidFill>
                    <a:latin typeface="DM Sans"/>
                  </a:rPr>
                  <a:t>(Remarque : On ajoute une très petite valeur comme 0.001 au dénominateur pour éviter la division par zéro sur les surfaces parfaitement plates).  </a:t>
                </a:r>
              </a:p>
              <a:p>
                <a:endParaRPr lang="fr-FR" sz="1350" dirty="0">
                  <a:solidFill>
                    <a:srgbClr val="334155"/>
                  </a:solidFill>
                  <a:latin typeface="DM Sans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DA5259B-C9B3-13F7-484F-04881F712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498" y="1409665"/>
                <a:ext cx="9522045" cy="4107919"/>
              </a:xfrm>
              <a:prstGeom prst="rect">
                <a:avLst/>
              </a:prstGeom>
              <a:blipFill>
                <a:blip r:embed="rId3"/>
                <a:stretch>
                  <a:fillRect l="-512" t="-7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2">
            <a:extLst>
              <a:ext uri="{FF2B5EF4-FFF2-40B4-BE49-F238E27FC236}">
                <a16:creationId xmlns:a16="http://schemas.microsoft.com/office/drawing/2014/main" id="{6D2E0D04-14B6-77B2-6CC4-FC65D826728D}"/>
              </a:ext>
            </a:extLst>
          </p:cNvPr>
          <p:cNvSpPr txBox="1"/>
          <p:nvPr/>
        </p:nvSpPr>
        <p:spPr>
          <a:xfrm>
            <a:off x="886968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Indice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d'Humidité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Topographique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TWI</a:t>
            </a:r>
          </a:p>
        </p:txBody>
      </p:sp>
    </p:spTree>
    <p:extLst>
      <p:ext uri="{BB962C8B-B14F-4D97-AF65-F5344CB8AC3E}">
        <p14:creationId xmlns:p14="http://schemas.microsoft.com/office/powerpoint/2010/main" val="2899178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F95EF56-C2AF-E766-878A-B6D91141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283138"/>
            <a:ext cx="9921240" cy="403867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A53C8F8-F264-37DF-15C1-60815FBE4CC8}"/>
              </a:ext>
            </a:extLst>
          </p:cNvPr>
          <p:cNvSpPr txBox="1"/>
          <p:nvPr/>
        </p:nvSpPr>
        <p:spPr>
          <a:xfrm>
            <a:off x="1197678" y="1504280"/>
            <a:ext cx="93552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F766E"/>
                </a:solidFill>
                <a:latin typeface="Poppins SemiBold"/>
              </a:rPr>
              <a:t>Étape 4 : Interprétation et Cartographie des Zones Humides.   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 </a:t>
            </a: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Style du raster :    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Aller dans les   Propriétés de la couche TWI   &gt;   Symbologie.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Choisir le type de rendu Pseudocouleur à bande unique.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Appliquer une palette de couleurs allant du jaune (sec) au bleu foncé (très humide).</a:t>
            </a:r>
          </a:p>
          <a:p>
            <a:endParaRPr lang="fr-FR" sz="1350" dirty="0">
              <a:solidFill>
                <a:srgbClr val="334155"/>
              </a:solidFill>
              <a:latin typeface="DM Sans"/>
            </a:endParaRPr>
          </a:p>
          <a:p>
            <a:r>
              <a:rPr lang="fr-FR" sz="1350" dirty="0">
                <a:solidFill>
                  <a:srgbClr val="334155"/>
                </a:solidFill>
                <a:latin typeface="DM Sans"/>
              </a:rPr>
              <a:t>2.     Analyse des résultats :    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Valeurs faibles (&lt; 4-6) :     </a:t>
            </a:r>
          </a:p>
          <a:p>
            <a:pPr lvl="1"/>
            <a:r>
              <a:rPr lang="fr-FR" sz="1350" dirty="0">
                <a:solidFill>
                  <a:srgbClr val="334155"/>
                </a:solidFill>
                <a:latin typeface="DM Sans"/>
              </a:rPr>
              <a:t>	Zones de crêtes, pentes fortes, sols bien drainés.   </a:t>
            </a:r>
          </a:p>
          <a:p>
            <a:pPr marL="742950" lvl="1" indent="-285750">
              <a:buFontTx/>
              <a:buChar char="-"/>
            </a:pPr>
            <a:r>
              <a:rPr lang="fr-FR" sz="1350" dirty="0">
                <a:solidFill>
                  <a:srgbClr val="334155"/>
                </a:solidFill>
                <a:latin typeface="DM Sans"/>
              </a:rPr>
              <a:t>Valeurs élevées (&gt; 8-12) : Bas de versants, thalwegs, fond de vallées et dépressions topographiques. Ces zones présentent une forte probabilité de présence de </a:t>
            </a:r>
            <a:r>
              <a:rPr lang="fr-FR" sz="1350" b="1" dirty="0">
                <a:solidFill>
                  <a:srgbClr val="334155"/>
                </a:solidFill>
                <a:latin typeface="DM Sans"/>
              </a:rPr>
              <a:t>zones humides fonctionnelles 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ou de sature d'eau temporaire. </a:t>
            </a:r>
          </a:p>
        </p:txBody>
      </p:sp>
    </p:spTree>
    <p:extLst>
      <p:ext uri="{BB962C8B-B14F-4D97-AF65-F5344CB8AC3E}">
        <p14:creationId xmlns:p14="http://schemas.microsoft.com/office/powerpoint/2010/main" val="14622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00575"/>
            <a:ext cx="11049000" cy="704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5875"/>
            <a:ext cx="11049000" cy="5095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4752975"/>
            <a:ext cx="2600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DM Sans"/>
              </a:rPr>
              <a:t>Croisement Multi-Critères (AMC)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Cartographie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du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Risque</a:t>
            </a:r>
            <a:r>
              <a:rPr sz="2700" b="1" i="0" u="none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D9488"/>
                </a:solidFill>
                <a:latin typeface="Poppins"/>
              </a:rPr>
              <a:t>d'Érosion</a:t>
            </a:r>
            <a:endParaRPr sz="2700" b="1" i="0" u="none" dirty="0">
              <a:solidFill>
                <a:srgbClr val="0D9488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316446B-7A7E-897E-D21D-22EE9059CE27}"/>
              </a:ext>
            </a:extLst>
          </p:cNvPr>
          <p:cNvSpPr txBox="1"/>
          <p:nvPr/>
        </p:nvSpPr>
        <p:spPr>
          <a:xfrm>
            <a:off x="907542" y="433878"/>
            <a:ext cx="103395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700" b="1" dirty="0">
                <a:solidFill>
                  <a:srgbClr val="0D9488"/>
                </a:solidFill>
                <a:latin typeface="Poppins"/>
              </a:rPr>
              <a:t>Exercice 2 : Cartographie prédictive de la saturation en eau des sols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2C29C4-E779-3B6E-F257-345E22AC67F1}"/>
              </a:ext>
            </a:extLst>
          </p:cNvPr>
          <p:cNvSpPr txBox="1"/>
          <p:nvPr/>
        </p:nvSpPr>
        <p:spPr>
          <a:xfrm>
            <a:off x="907542" y="1543797"/>
            <a:ext cx="1033957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50" b="1" dirty="0">
                <a:solidFill>
                  <a:srgbClr val="334155"/>
                </a:solidFill>
                <a:latin typeface="DM Sans"/>
              </a:rPr>
              <a:t>Objectif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: Manipuler un MNT 1m, calculer l'Indice de Topographie et d'Humidité (TWI) et identifier les parcelles agricoles exposées à l'engorgement.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759B76-B29F-E71C-1100-42BD4A463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42" y="2446501"/>
            <a:ext cx="10339578" cy="385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350" b="1" dirty="0">
                <a:solidFill>
                  <a:srgbClr val="334155"/>
                </a:solidFill>
                <a:latin typeface="DM Sans"/>
              </a:rPr>
              <a:t>Consignes pas à pas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Préparation du relief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Utiliser l'outil SAGA Fill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sinks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(Wang &amp; Liu) dans la boîte d'outils de traitement pour éliminer les dépressions fermées du MNT_RGEALTI_1m.tif. Nommer le résultat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MNT_Filled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Calculs des rasters intermédiaires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Générer la carte des pentes via Raster &gt; Analyse &gt; Pente. Attention : cocher l'option Exprimer la pente en radians.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Générer la surface d'accumulation avec l'outil SAGA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Catchment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Area sur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MNT_Filled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Modélisation TWI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Lancer l'outil SAGA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Topographic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Wetness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Index (TWI) en fournissant la pente en radians et l'accumulation.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Alternative Calculatrice Raster : Formule ln("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CatchmentArea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" / (tan("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Pente_rad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") + 0.001)).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Croisement et seuillage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Extraire les zones où TWI &gt; 8.5 à l'aide de la calculatrice raster.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Vectoriser ce raster binaire (Raster &gt; Conversion &gt; Vectoriser).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Effectuer une Intersection avec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parcelles_rpg.gpkg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pour calculer par parcelle la surface occupée par des zones potentielles de saturation d'eau.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Livrable attendu : Une carte raster TWI en dégradé de couleurs (jaune à bleu foncé) et la liste des parcelles agricoles ayant plus de 20% de leur surface en zone très humide (TWI &gt; 8.5).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59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438" y="2357437"/>
            <a:ext cx="899112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Module 3 : Automatisation &amp;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24326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DM Sans"/>
              </a:rPr>
              <a:t>Standardiser les rendus cartographiques et générer des cahiers de cartes automatiques pour les dossiers réglementaires (DIG, SAGE).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776412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52625" y="1947862"/>
            <a:ext cx="8715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DM Sans"/>
              </a:rPr>
              <a:t>Code couleur hydrographique 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Adopter les chartes officielles (ex. SANDRE/IGN) pour garantir l'interopérabilité (bleu pour l'eau, vert pour les zones humides).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805112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52625" y="2976562"/>
            <a:ext cx="8715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Hiérarchisation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visuelle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 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Adapter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l'épaisseur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tronçons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cours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d'eau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fonction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leur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rang de Strahler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ou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leur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débit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moyen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833812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52625" y="4005262"/>
            <a:ext cx="8715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DM Sans"/>
              </a:rPr>
              <a:t>Orientation dynamique des flux 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Configurer la symbologie pour afficher des flèches orientées selon le sens de numérisation topologique des lignes.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862512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52625" y="5033962"/>
            <a:ext cx="8715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DM Sans"/>
              </a:rPr>
              <a:t>Lisibilité &amp; Habillage 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Gérer l'ordre des couches (masquage/opacité), les étiquettes sans chevauchement et l'échelle adaptative.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64318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3500" y="367188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470058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33500" y="572928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1971675"/>
            <a:ext cx="16192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3000375"/>
            <a:ext cx="2381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575" y="4029075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575" y="5057775"/>
            <a:ext cx="23812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D9488"/>
                </a:solidFill>
                <a:latin typeface="Poppins"/>
              </a:rPr>
              <a:t>Sémiologie Cartographique EAU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8412"/>
            <a:ext cx="533400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38412"/>
            <a:ext cx="5334000" cy="259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43212"/>
            <a:ext cx="49106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oppins SemiBold"/>
              </a:rPr>
              <a:t>1. Couche de Couverture (Emprise)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0887"/>
            <a:ext cx="467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Sélection d'une couche polygonale structurante (ex: limites communales, sous-bassins versants ou parcelles cadastrales de riverains).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176712"/>
            <a:ext cx="46767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L'Atlas génère automatiquement une page dédiée par entité présente dans cette couche de couverture.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843212"/>
            <a:ext cx="49106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oppins SemiBold"/>
              </a:rPr>
              <a:t>2. Champs &amp; Étiquettes Dynamiques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90887"/>
            <a:ext cx="4676775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Insertion d'expressions variables dans la mise en page (ex: [% "NOM_COM" %] ou [% format_number("Surf_ha", 1) %] ha).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195762"/>
            <a:ext cx="46767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Filtrage dynamique de la légende et calculs statistiques mis à jour instantanément à chaque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D9488"/>
                </a:solidFill>
                <a:latin typeface="Poppins"/>
              </a:rPr>
              <a:t>Le Moteur d'Atlas sous QGIS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052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968" y="4262437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D9488"/>
                </a:solidFill>
                <a:latin typeface="Poppins SemiBold"/>
              </a:rPr>
              <a:t>1. Préparation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62487"/>
            <a:ext cx="254124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Structurer la couche de couverture et vérifier les identifiants uniques.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628900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D9488"/>
                </a:solidFill>
                <a:latin typeface="Poppins SemiBold"/>
              </a:rPr>
              <a:t>2.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3028950"/>
            <a:ext cx="25412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Créer la mise en page (carte principale, vue d'ensemble, cartouche, légende).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262437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D9488"/>
                </a:solidFill>
                <a:latin typeface="Poppins SemiBold"/>
              </a:rPr>
              <a:t>3.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662487"/>
            <a:ext cx="25412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Activer le moteur d'Atlas et paramétrer les étiquettes dynamiques.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843212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D9488"/>
                </a:solidFill>
                <a:latin typeface="Poppins SemiBold"/>
              </a:rPr>
              <a:t>4.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3243262"/>
            <a:ext cx="254124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DM Sans"/>
              </a:rPr>
              <a:t>Exporter le cahier de </a:t>
            </a:r>
            <a:r>
              <a:rPr sz="1125" b="0" i="0" u="none" dirty="0" err="1">
                <a:solidFill>
                  <a:srgbClr val="334155"/>
                </a:solidFill>
                <a:latin typeface="DM Sans"/>
              </a:rPr>
              <a:t>cartes</a:t>
            </a:r>
            <a:r>
              <a:rPr sz="1125" b="0" i="0" u="none" dirty="0">
                <a:solidFill>
                  <a:srgbClr val="334155"/>
                </a:solidFill>
                <a:latin typeface="DM Sans"/>
              </a:rPr>
              <a:t> final au format PDF multi-pages </a:t>
            </a:r>
            <a:r>
              <a:rPr sz="1125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125" b="0" i="0" u="none" dirty="0">
                <a:solidFill>
                  <a:srgbClr val="334155"/>
                </a:solidFill>
                <a:latin typeface="DM Sans"/>
              </a:rPr>
              <a:t> un </a:t>
            </a:r>
            <a:r>
              <a:rPr sz="1125" b="0" i="0" u="none" dirty="0" err="1">
                <a:solidFill>
                  <a:srgbClr val="334155"/>
                </a:solidFill>
                <a:latin typeface="DM Sans"/>
              </a:rPr>
              <a:t>clic</a:t>
            </a:r>
            <a:r>
              <a:rPr sz="1125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D9488"/>
                </a:solidFill>
                <a:latin typeface="Poppins"/>
              </a:rPr>
              <a:t>Workflow de Génération d'Atlas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45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3265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9184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45104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24DEBC4-0B1F-CECB-9EF3-B0FF9C105F5E}"/>
              </a:ext>
            </a:extLst>
          </p:cNvPr>
          <p:cNvSpPr txBox="1"/>
          <p:nvPr/>
        </p:nvSpPr>
        <p:spPr>
          <a:xfrm>
            <a:off x="614934" y="417499"/>
            <a:ext cx="10668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700" b="1" dirty="0">
                <a:solidFill>
                  <a:srgbClr val="0D9488"/>
                </a:solidFill>
                <a:latin typeface="Poppins"/>
              </a:rPr>
              <a:t>Exercice 3 : Génération automatique de fiches de synthèse pour enquête publique (DIG)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86E151-E646-F7A1-6BA2-8C99C7D59373}"/>
              </a:ext>
            </a:extLst>
          </p:cNvPr>
          <p:cNvSpPr txBox="1"/>
          <p:nvPr/>
        </p:nvSpPr>
        <p:spPr>
          <a:xfrm>
            <a:off x="678942" y="1538246"/>
            <a:ext cx="609447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50" b="1" dirty="0">
                <a:solidFill>
                  <a:srgbClr val="334155"/>
                </a:solidFill>
                <a:latin typeface="DM Sans"/>
              </a:rPr>
              <a:t>Objectif</a:t>
            </a:r>
            <a:r>
              <a:rPr lang="fr-FR" sz="1350" dirty="0">
                <a:solidFill>
                  <a:srgbClr val="334155"/>
                </a:solidFill>
                <a:latin typeface="DM Sans"/>
              </a:rPr>
              <a:t> : Concevoir une mise en page dynamique et configurer l'Atlas QGIS pour exporter un dossier de cartes personnalisé par commune du syndicat.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1B58E35-CA09-7EAE-889A-122CB27BE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42" y="2451244"/>
            <a:ext cx="11073384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350" b="1" dirty="0">
                <a:solidFill>
                  <a:srgbClr val="334155"/>
                </a:solidFill>
                <a:latin typeface="DM Sans"/>
              </a:rPr>
              <a:t>Consignes pas à pas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Symbologie dynamique dans la vue principale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Appliquer un style d'orientation de ligne sur les cours d'eau avec des flèches indiquant le sens d'écoulement.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Symboliser la couche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points_rupture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avec un symbole clignotant/rouge contrasté.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Configuration du Composeur d'impression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Créer une nouvelle mise en page au format A4 Paysage.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Insérer une carte principale, une flèche Nord, une échelle graphique dynamique et un cartouche (Titre, Date, Organisme).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Configurer la Légende pour qu'elle n'affiche que les éléments visibles sur la carte.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Paramétrage de l'Atlas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Activer l'Atlas dans l'onglet dédié et choisir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communes_syndicat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comme couche de couverture.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Choisir le champ NOM_COM comme nom de page.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Sur l'élément Carte principale : cocher Contrôlé par l'Atlas avec une marge autour de l'objet de 10%.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Ajouter une étiquette texte dynamique dans le titre : "Diagnostic Hydro-Bocager - Commune de " ||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attribute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(@atlas_feature, 'NOM_COM').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Exportation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Générer le dossier complet au format PDF unique </a:t>
            </a:r>
            <a:r>
              <a:rPr lang="fr-FR" altLang="fr-FR" sz="1350" dirty="0" err="1">
                <a:solidFill>
                  <a:srgbClr val="334155"/>
                </a:solidFill>
                <a:latin typeface="DM Sans"/>
              </a:rPr>
              <a:t>multi-pages</a:t>
            </a: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 via l'outil Exporter l'Atlas en PDF.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350" dirty="0">
              <a:solidFill>
                <a:srgbClr val="334155"/>
              </a:solidFill>
              <a:latin typeface="DM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350" dirty="0">
                <a:solidFill>
                  <a:srgbClr val="334155"/>
                </a:solidFill>
                <a:latin typeface="DM Sans"/>
              </a:rPr>
              <a:t>Livrable attendu : Un fichier PDF unique contenant 1 page par commune, parfaitement cadrée, titrée et mise à jour dynamiquement.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553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E94AD73-7642-1CE7-3DA9-A96994809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77537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62C2B71C-F2C0-7A92-E4FD-CB8B60086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7212"/>
            <a:ext cx="5334000" cy="857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A816B2E3-0B13-1EA2-55A7-B5F0077BA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97337"/>
            <a:ext cx="5334000" cy="8572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939A682-E5C0-095E-00C6-A96D2A5A8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97462"/>
            <a:ext cx="5334000" cy="857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6B80E-2D80-3228-9CF7-2751DFF532DE}"/>
              </a:ext>
            </a:extLst>
          </p:cNvPr>
          <p:cNvSpPr txBox="1"/>
          <p:nvPr/>
        </p:nvSpPr>
        <p:spPr>
          <a:xfrm>
            <a:off x="571500" y="1775370"/>
            <a:ext cx="5334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334155"/>
                </a:solidFill>
                <a:latin typeface="Open Sans"/>
              </a:rPr>
              <a:t>Le </a:t>
            </a:r>
            <a:r>
              <a:rPr sz="1200" b="1" i="0" u="none" dirty="0" err="1">
                <a:solidFill>
                  <a:srgbClr val="334155"/>
                </a:solidFill>
                <a:latin typeface="Open Sans"/>
              </a:rPr>
              <a:t>Modeleur</a:t>
            </a:r>
            <a:r>
              <a:rPr sz="1200" b="1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Open Sans"/>
              </a:rPr>
              <a:t>Graphique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permet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d'enchaîner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visuellement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plusieurs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outils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géotraitement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pour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créer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des flux de travail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automatisés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répétables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et sans </a:t>
            </a:r>
            <a:r>
              <a:rPr sz="1200" b="0" i="0" u="none" dirty="0" err="1">
                <a:solidFill>
                  <a:srgbClr val="334155"/>
                </a:solidFill>
                <a:latin typeface="Open Sans"/>
              </a:rPr>
              <a:t>programmation</a:t>
            </a:r>
            <a:r>
              <a:rPr sz="1200" b="0" i="0" u="none" dirty="0">
                <a:solidFill>
                  <a:srgbClr val="334155"/>
                </a:solidFill>
                <a:latin typeface="Open Sans"/>
              </a:rPr>
              <a:t> Python.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A52BF-53CC-9583-BD39-FF51B29B0818}"/>
              </a:ext>
            </a:extLst>
          </p:cNvPr>
          <p:cNvSpPr txBox="1"/>
          <p:nvPr/>
        </p:nvSpPr>
        <p:spPr>
          <a:xfrm>
            <a:off x="6286500" y="547107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1" u="none">
                <a:solidFill>
                  <a:srgbClr val="64748B"/>
                </a:solidFill>
                <a:latin typeface="Open Sans"/>
              </a:rPr>
              <a:t>Interface du Modeleur : Assemblage logique des entités d'entrée, algorithmes et sorties.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5FADA863-AC26-DE38-1012-58F161462AC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3405" r="-1"/>
          <a:stretch/>
        </p:blipFill>
        <p:spPr>
          <a:xfrm>
            <a:off x="6115050" y="1784895"/>
            <a:ext cx="5495925" cy="3600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089ADA-4041-1F07-6125-7F229AB499C6}"/>
              </a:ext>
            </a:extLst>
          </p:cNvPr>
          <p:cNvSpPr txBox="1"/>
          <p:nvPr/>
        </p:nvSpPr>
        <p:spPr>
          <a:xfrm>
            <a:off x="781050" y="2830562"/>
            <a:ext cx="5200650" cy="1809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1. Paramètres d'Entrée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2772B-390B-9DCE-4681-EF5E11766996}"/>
              </a:ext>
            </a:extLst>
          </p:cNvPr>
          <p:cNvSpPr txBox="1"/>
          <p:nvPr/>
        </p:nvSpPr>
        <p:spPr>
          <a:xfrm>
            <a:off x="781050" y="3049637"/>
            <a:ext cx="4953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Définition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des couches (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vecteurs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,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rasters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),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valeurs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numériques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, distances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ou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expressions à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traiter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A6CBB7-15EF-6883-2DA1-57D91DB7F9F7}"/>
              </a:ext>
            </a:extLst>
          </p:cNvPr>
          <p:cNvSpPr txBox="1"/>
          <p:nvPr/>
        </p:nvSpPr>
        <p:spPr>
          <a:xfrm>
            <a:off x="781050" y="3830687"/>
            <a:ext cx="5200650" cy="1809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2. Algorithmes en Chaîne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8A7F6-E799-C12D-D163-3F83B3A5AA36}"/>
              </a:ext>
            </a:extLst>
          </p:cNvPr>
          <p:cNvSpPr txBox="1"/>
          <p:nvPr/>
        </p:nvSpPr>
        <p:spPr>
          <a:xfrm>
            <a:off x="781050" y="4049762"/>
            <a:ext cx="4953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475569"/>
                </a:solidFill>
                <a:latin typeface="Open Sans"/>
              </a:rPr>
              <a:t>Mise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en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réseau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d'outils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QGIS, SAGA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ou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GRASS (Buffers, Intersections,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Calculatrice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de champs, TWI).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17ED3C-8D90-2248-024E-A3742F4EA872}"/>
              </a:ext>
            </a:extLst>
          </p:cNvPr>
          <p:cNvSpPr txBox="1"/>
          <p:nvPr/>
        </p:nvSpPr>
        <p:spPr>
          <a:xfrm>
            <a:off x="781050" y="4830812"/>
            <a:ext cx="5200650" cy="1809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Montserrat"/>
              </a:rPr>
              <a:t>3. Couches &amp; Résultats de Sortie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88D539-0463-2213-A9E8-5FC9BF21FA35}"/>
              </a:ext>
            </a:extLst>
          </p:cNvPr>
          <p:cNvSpPr txBox="1"/>
          <p:nvPr/>
        </p:nvSpPr>
        <p:spPr>
          <a:xfrm>
            <a:off x="781050" y="5049887"/>
            <a:ext cx="4953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Génération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automatique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de couches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qualifiées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et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réutilisables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dans </a:t>
            </a:r>
            <a:r>
              <a:rPr sz="975" b="0" i="0" u="none" dirty="0" err="1">
                <a:solidFill>
                  <a:srgbClr val="475569"/>
                </a:solidFill>
                <a:latin typeface="Open Sans"/>
              </a:rPr>
              <a:t>lesAtlas</a:t>
            </a:r>
            <a:r>
              <a:rPr sz="975" b="0" i="0" u="none" dirty="0">
                <a:solidFill>
                  <a:srgbClr val="475569"/>
                </a:solidFill>
                <a:latin typeface="Open Sans"/>
              </a:rPr>
              <a:t> et diagnostics.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B8C1CB49-F433-2FF2-644E-8AA559A583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849612"/>
            <a:ext cx="142875" cy="14287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8A610371-5221-9D54-0246-6A4AF33886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3849737"/>
            <a:ext cx="161925" cy="14287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97100161-1744-6629-6749-06D9C2246E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4849862"/>
            <a:ext cx="161925" cy="1428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1C3387-12E1-A887-E2DD-4093D4A71232}"/>
              </a:ext>
            </a:extLst>
          </p:cNvPr>
          <p:cNvSpPr txBox="1"/>
          <p:nvPr/>
        </p:nvSpPr>
        <p:spPr>
          <a:xfrm>
            <a:off x="714375" y="476250"/>
            <a:ext cx="11451431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700" b="1" dirty="0">
                <a:solidFill>
                  <a:srgbClr val="0D9488"/>
                </a:solidFill>
                <a:latin typeface="Poppins"/>
              </a:rPr>
              <a:t>Le </a:t>
            </a:r>
            <a:r>
              <a:rPr sz="2700" b="1" dirty="0" err="1">
                <a:solidFill>
                  <a:srgbClr val="0D9488"/>
                </a:solidFill>
                <a:latin typeface="Poppins"/>
              </a:rPr>
              <a:t>Modeleur</a:t>
            </a:r>
            <a:r>
              <a:rPr sz="2700" b="1" dirty="0">
                <a:solidFill>
                  <a:srgbClr val="0D9488"/>
                </a:solidFill>
                <a:latin typeface="Poppins"/>
              </a:rPr>
              <a:t> </a:t>
            </a:r>
            <a:r>
              <a:rPr sz="2700" b="1" dirty="0" err="1">
                <a:solidFill>
                  <a:srgbClr val="0D9488"/>
                </a:solidFill>
                <a:latin typeface="Poppins"/>
              </a:rPr>
              <a:t>Graphique</a:t>
            </a:r>
            <a:r>
              <a:rPr sz="2700" b="1" dirty="0">
                <a:solidFill>
                  <a:srgbClr val="0D9488"/>
                </a:solidFill>
                <a:latin typeface="Poppins"/>
              </a:rPr>
              <a:t> QGIS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703DC1-F665-CADA-A511-1AD3633B11D4}"/>
              </a:ext>
            </a:extLst>
          </p:cNvPr>
          <p:cNvSpPr/>
          <p:nvPr/>
        </p:nvSpPr>
        <p:spPr>
          <a:xfrm>
            <a:off x="571500" y="476250"/>
            <a:ext cx="47625" cy="38859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9079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8F84851B-03C3-3271-9B08-0970518E7AAB}"/>
              </a:ext>
            </a:extLst>
          </p:cNvPr>
          <p:cNvSpPr/>
          <p:nvPr/>
        </p:nvSpPr>
        <p:spPr>
          <a:xfrm>
            <a:off x="8324850" y="2854968"/>
            <a:ext cx="2209800" cy="1999208"/>
          </a:xfrm>
          <a:prstGeom prst="roundRect">
            <a:avLst/>
          </a:prstGeom>
          <a:solidFill>
            <a:srgbClr val="EBF1DE">
              <a:alpha val="45098"/>
            </a:srgbClr>
          </a:solidFill>
          <a:ln w="12700">
            <a:solidFill>
              <a:srgbClr val="0D9488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D626067-2353-0BCE-568C-ECC01AC4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2051595"/>
            <a:ext cx="5334000" cy="11715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27CA50B-D898-2AA3-E30E-3235D871F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3375570"/>
            <a:ext cx="5334000" cy="96202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657B815-68B3-4D56-921A-7D7400D0E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4489995"/>
            <a:ext cx="5334000" cy="1152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92D783-0827-A285-C841-8F8944438358}"/>
              </a:ext>
            </a:extLst>
          </p:cNvPr>
          <p:cNvSpPr txBox="1"/>
          <p:nvPr/>
        </p:nvSpPr>
        <p:spPr>
          <a:xfrm>
            <a:off x="1552575" y="1480095"/>
            <a:ext cx="5334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Objectif 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Automatiser la détection des ruptures de haies et le calcul du taux de ripisylve sur un bassin versant.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C63C03BD-4041-E9A2-2732-937F4BFA0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926" y="3058267"/>
            <a:ext cx="238125" cy="2667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3FC1B4C2-6A8C-B134-614D-E9B4675BA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175" y="2223045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225781B3-F92D-03B7-2FEB-10B6C8C8B0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175" y="354702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8E800BEF-3C7D-93AF-33F1-6FE8641E62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175" y="4661445"/>
            <a:ext cx="266700" cy="266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E6D15E-CABD-339A-F065-7B60C3EFBC61}"/>
              </a:ext>
            </a:extLst>
          </p:cNvPr>
          <p:cNvSpPr txBox="1"/>
          <p:nvPr/>
        </p:nvSpPr>
        <p:spPr>
          <a:xfrm>
            <a:off x="8525829" y="3438708"/>
            <a:ext cx="181832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65F46"/>
                </a:solidFill>
                <a:latin typeface="Montserrat"/>
              </a:rPr>
              <a:t>Livrable</a:t>
            </a:r>
            <a:r>
              <a:rPr sz="1125" b="1" i="0" u="none" dirty="0">
                <a:solidFill>
                  <a:srgbClr val="065F46"/>
                </a:solidFill>
                <a:latin typeface="Montserrat"/>
              </a:rPr>
              <a:t> </a:t>
            </a:r>
            <a:r>
              <a:rPr sz="1125" b="1" i="0" u="none" dirty="0" err="1">
                <a:solidFill>
                  <a:srgbClr val="065F46"/>
                </a:solidFill>
                <a:latin typeface="Montserrat"/>
              </a:rPr>
              <a:t>attendu</a:t>
            </a:r>
            <a:r>
              <a:rPr sz="1125" b="1" i="0" u="none" dirty="0">
                <a:solidFill>
                  <a:srgbClr val="065F46"/>
                </a:solidFill>
                <a:latin typeface="Montserrat"/>
              </a:rPr>
              <a:t> (.</a:t>
            </a:r>
            <a:r>
              <a:rPr sz="1125" b="1" i="0" u="none" dirty="0" err="1">
                <a:solidFill>
                  <a:srgbClr val="065F46"/>
                </a:solidFill>
                <a:latin typeface="Montserrat"/>
              </a:rPr>
              <a:t>qgm</a:t>
            </a:r>
            <a:r>
              <a:rPr sz="1125" b="1" i="0" u="none" dirty="0">
                <a:solidFill>
                  <a:srgbClr val="065F46"/>
                </a:solidFill>
                <a:latin typeface="Montserrat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4162C-51C5-53AA-0BB1-7AEE8C71D854}"/>
              </a:ext>
            </a:extLst>
          </p:cNvPr>
          <p:cNvSpPr txBox="1"/>
          <p:nvPr/>
        </p:nvSpPr>
        <p:spPr>
          <a:xfrm>
            <a:off x="8525828" y="3700609"/>
            <a:ext cx="1818322" cy="945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047857"/>
                </a:solidFill>
                <a:latin typeface="Open Sans"/>
              </a:rPr>
              <a:t>Un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modèle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réutilisable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exporté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au format .model3 / .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qgm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permettant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d'exécuter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l'analyse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globale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en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1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clic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sur </a:t>
            </a:r>
            <a:r>
              <a:rPr sz="975" b="0" i="0" u="none" dirty="0" err="1">
                <a:solidFill>
                  <a:srgbClr val="047857"/>
                </a:solidFill>
                <a:latin typeface="Open Sans"/>
              </a:rPr>
              <a:t>toute</a:t>
            </a:r>
            <a:r>
              <a:rPr sz="975" b="0" i="0" u="none" dirty="0">
                <a:solidFill>
                  <a:srgbClr val="047857"/>
                </a:solidFill>
                <a:latin typeface="Open Sans"/>
              </a:rPr>
              <a:t> nouvelle commune.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D68346-9B69-364E-4CFD-2787B8AF4726}"/>
              </a:ext>
            </a:extLst>
          </p:cNvPr>
          <p:cNvSpPr txBox="1"/>
          <p:nvPr/>
        </p:nvSpPr>
        <p:spPr>
          <a:xfrm>
            <a:off x="2190750" y="2203995"/>
            <a:ext cx="4505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Open Sans"/>
              </a:rPr>
              <a:t>Définir les entrées du modèle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2792D-FD3A-D53C-252C-02A5EBAFE331}"/>
              </a:ext>
            </a:extLst>
          </p:cNvPr>
          <p:cNvSpPr txBox="1"/>
          <p:nvPr/>
        </p:nvSpPr>
        <p:spPr>
          <a:xfrm>
            <a:off x="2190750" y="2451645"/>
            <a:ext cx="45053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Open Sans"/>
              </a:rPr>
              <a:t>Ajouter les paramètres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Vector Layer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: cours_deau, haies_bassin, reseau_routier et un paramètre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Number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pour la largeur du tampon (ex. 10m).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3956A0-71E9-A7F3-8E41-1406692CFF24}"/>
              </a:ext>
            </a:extLst>
          </p:cNvPr>
          <p:cNvSpPr txBox="1"/>
          <p:nvPr/>
        </p:nvSpPr>
        <p:spPr>
          <a:xfrm>
            <a:off x="2190750" y="3527970"/>
            <a:ext cx="4505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Open Sans"/>
              </a:rPr>
              <a:t>Chaîne de géotraitement Ripisylve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EEB299-9F2E-EEBC-8CCB-4365633D468E}"/>
              </a:ext>
            </a:extLst>
          </p:cNvPr>
          <p:cNvSpPr txBox="1"/>
          <p:nvPr/>
        </p:nvSpPr>
        <p:spPr>
          <a:xfrm>
            <a:off x="2190750" y="3775620"/>
            <a:ext cx="450532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Open Sans"/>
              </a:rPr>
              <a:t>Enchaîner :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Tampon (Buffer)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sur cours d'eau →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Couper / Intersection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avec la couche haies →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Calculatrice de champs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(métrage $length).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11BEC-78E1-3E9D-A3E8-37FA565B65C1}"/>
              </a:ext>
            </a:extLst>
          </p:cNvPr>
          <p:cNvSpPr txBox="1"/>
          <p:nvPr/>
        </p:nvSpPr>
        <p:spPr>
          <a:xfrm>
            <a:off x="2190750" y="4642395"/>
            <a:ext cx="4505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Open Sans"/>
              </a:rPr>
              <a:t>Chaîne de détection des Ruptures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E1084-A04A-C2C6-72C3-2BB535CEDF72}"/>
              </a:ext>
            </a:extLst>
          </p:cNvPr>
          <p:cNvSpPr txBox="1"/>
          <p:nvPr/>
        </p:nvSpPr>
        <p:spPr>
          <a:xfrm>
            <a:off x="2190750" y="4890045"/>
            <a:ext cx="4505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Open Sans"/>
              </a:rPr>
              <a:t>Enchaîner :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Intersection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(haies x routes) pour extraire les points de rupture → </a:t>
            </a:r>
            <a:r>
              <a:rPr sz="1050" b="0" i="1" u="none">
                <a:solidFill>
                  <a:srgbClr val="475569"/>
                </a:solidFill>
                <a:latin typeface="Open Sans"/>
              </a:rPr>
              <a:t>Scinder des lignes avec des lignes</a:t>
            </a:r>
            <a:r>
              <a:rPr sz="1050" b="0" i="0" u="none">
                <a:solidFill>
                  <a:srgbClr val="475569"/>
                </a:solidFill>
                <a:latin typeface="Open Sans"/>
              </a:rPr>
              <a:t> pour découper le réseau bocager.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A5498-3E41-D497-2CA7-640FFD7539D2}"/>
              </a:ext>
            </a:extLst>
          </p:cNvPr>
          <p:cNvSpPr txBox="1"/>
          <p:nvPr/>
        </p:nvSpPr>
        <p:spPr>
          <a:xfrm>
            <a:off x="714375" y="476250"/>
            <a:ext cx="11451431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700" b="1" dirty="0" err="1">
                <a:solidFill>
                  <a:srgbClr val="0D9488"/>
                </a:solidFill>
                <a:latin typeface="Poppins"/>
              </a:rPr>
              <a:t>Exercice</a:t>
            </a:r>
            <a:r>
              <a:rPr sz="2700" b="1" dirty="0">
                <a:solidFill>
                  <a:srgbClr val="0D9488"/>
                </a:solidFill>
                <a:latin typeface="Poppins"/>
              </a:rPr>
              <a:t> : </a:t>
            </a:r>
            <a:r>
              <a:rPr sz="2700" b="1" dirty="0" err="1">
                <a:solidFill>
                  <a:srgbClr val="0D9488"/>
                </a:solidFill>
                <a:latin typeface="Poppins"/>
              </a:rPr>
              <a:t>Modèle</a:t>
            </a:r>
            <a:r>
              <a:rPr sz="2700" b="1" dirty="0">
                <a:solidFill>
                  <a:srgbClr val="0D9488"/>
                </a:solidFill>
                <a:latin typeface="Poppins"/>
              </a:rPr>
              <a:t> Hydro-Bocage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C1B430-109D-E06E-A1D4-DD97E36822D8}"/>
              </a:ext>
            </a:extLst>
          </p:cNvPr>
          <p:cNvSpPr/>
          <p:nvPr/>
        </p:nvSpPr>
        <p:spPr>
          <a:xfrm>
            <a:off x="571500" y="476250"/>
            <a:ext cx="47625" cy="38859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26554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5275" y="2071687"/>
            <a:ext cx="116014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0F172A"/>
                </a:solidFill>
                <a:latin typeface="Poppins"/>
              </a:rPr>
              <a:t>Des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29000"/>
            <a:ext cx="11049000" cy="300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DM Sans"/>
              </a:rPr>
              <a:t>Merci pour </a:t>
            </a:r>
            <a:r>
              <a:rPr sz="1650" b="0" i="0" u="none" dirty="0" err="1">
                <a:solidFill>
                  <a:srgbClr val="475569"/>
                </a:solidFill>
                <a:latin typeface="DM Sans"/>
              </a:rPr>
              <a:t>votre</a:t>
            </a:r>
            <a:r>
              <a:rPr sz="1650" b="0" i="0" u="none" dirty="0">
                <a:solidFill>
                  <a:srgbClr val="475569"/>
                </a:solidFill>
                <a:latin typeface="DM Sans"/>
              </a:rPr>
              <a:t> attention </a:t>
            </a:r>
            <a:r>
              <a:rPr sz="1650" b="0" i="0" u="none" dirty="0" err="1">
                <a:solidFill>
                  <a:srgbClr val="475569"/>
                </a:solidFill>
                <a:latin typeface="DM Sans"/>
              </a:rPr>
              <a:t>lors</a:t>
            </a:r>
            <a:r>
              <a:rPr sz="1650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650" b="0" i="0" u="none" dirty="0" err="1">
                <a:solidFill>
                  <a:srgbClr val="475569"/>
                </a:solidFill>
                <a:latin typeface="DM Sans"/>
              </a:rPr>
              <a:t>cette</a:t>
            </a:r>
            <a:r>
              <a:rPr sz="16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DM Sans"/>
              </a:rPr>
              <a:t>journée</a:t>
            </a:r>
            <a:r>
              <a:rPr sz="1650" b="0" i="0" u="none" dirty="0">
                <a:solidFill>
                  <a:srgbClr val="475569"/>
                </a:solidFill>
                <a:latin typeface="DM Sans"/>
              </a:rPr>
              <a:t> de formation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624979">
            <a:off x="2032829" y="418848"/>
            <a:ext cx="2629525" cy="6621163"/>
            <a:chOff x="0" y="0"/>
            <a:chExt cx="580911" cy="1462738"/>
          </a:xfr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</p:grpSpPr>
        <p:sp>
          <p:nvSpPr>
            <p:cNvPr id="3" name="Freeform 3"/>
            <p:cNvSpPr/>
            <p:nvPr/>
          </p:nvSpPr>
          <p:spPr>
            <a:xfrm>
              <a:off x="15229" y="0"/>
              <a:ext cx="550454" cy="1462738"/>
            </a:xfrm>
            <a:custGeom>
              <a:avLst/>
              <a:gdLst/>
              <a:ahLst/>
              <a:cxnLst/>
              <a:rect l="l" t="t" r="r" b="b"/>
              <a:pathLst>
                <a:path w="550454" h="1462738">
                  <a:moveTo>
                    <a:pt x="305740" y="0"/>
                  </a:moveTo>
                  <a:lnTo>
                    <a:pt x="447913" y="0"/>
                  </a:lnTo>
                  <a:cubicBezTo>
                    <a:pt x="477569" y="0"/>
                    <a:pt x="505773" y="12840"/>
                    <a:pt x="525247" y="35206"/>
                  </a:cubicBezTo>
                  <a:cubicBezTo>
                    <a:pt x="544721" y="57572"/>
                    <a:pt x="553558" y="87275"/>
                    <a:pt x="549477" y="116649"/>
                  </a:cubicBezTo>
                  <a:lnTo>
                    <a:pt x="378687" y="1346089"/>
                  </a:lnTo>
                  <a:cubicBezTo>
                    <a:pt x="369397" y="1412958"/>
                    <a:pt x="312224" y="1462738"/>
                    <a:pt x="244713" y="1462738"/>
                  </a:cubicBezTo>
                  <a:lnTo>
                    <a:pt x="102540" y="1462738"/>
                  </a:lnTo>
                  <a:cubicBezTo>
                    <a:pt x="72884" y="1462738"/>
                    <a:pt x="44680" y="1449898"/>
                    <a:pt x="25206" y="1427532"/>
                  </a:cubicBezTo>
                  <a:cubicBezTo>
                    <a:pt x="5732" y="1405165"/>
                    <a:pt x="-3105" y="1375463"/>
                    <a:pt x="976" y="1346089"/>
                  </a:cubicBezTo>
                  <a:lnTo>
                    <a:pt x="171766" y="116649"/>
                  </a:lnTo>
                  <a:cubicBezTo>
                    <a:pt x="181056" y="49780"/>
                    <a:pt x="238229" y="0"/>
                    <a:pt x="30574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77711" cy="150083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-9571724">
            <a:off x="-3456619" y="-1463832"/>
            <a:ext cx="6104753" cy="8048105"/>
            <a:chOff x="5534" y="-38100"/>
            <a:chExt cx="1348653" cy="1777976"/>
          </a:xfr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</p:grpSpPr>
        <p:sp>
          <p:nvSpPr>
            <p:cNvPr id="6" name="Freeform 6"/>
            <p:cNvSpPr/>
            <p:nvPr/>
          </p:nvSpPr>
          <p:spPr>
            <a:xfrm>
              <a:off x="5534" y="0"/>
              <a:ext cx="1348653" cy="1739876"/>
            </a:xfrm>
            <a:custGeom>
              <a:avLst/>
              <a:gdLst/>
              <a:ahLst/>
              <a:cxnLst/>
              <a:rect l="l" t="t" r="r" b="b"/>
              <a:pathLst>
                <a:path w="1348653" h="1739876">
                  <a:moveTo>
                    <a:pt x="247980" y="0"/>
                  </a:moveTo>
                  <a:lnTo>
                    <a:pt x="1303873" y="0"/>
                  </a:lnTo>
                  <a:cubicBezTo>
                    <a:pt x="1316654" y="0"/>
                    <a:pt x="1328826" y="5461"/>
                    <a:pt x="1337324" y="15009"/>
                  </a:cubicBezTo>
                  <a:cubicBezTo>
                    <a:pt x="1345821" y="24556"/>
                    <a:pt x="1349834" y="37280"/>
                    <a:pt x="1348351" y="49975"/>
                  </a:cubicBezTo>
                  <a:lnTo>
                    <a:pt x="1156824" y="1689901"/>
                  </a:lnTo>
                  <a:cubicBezTo>
                    <a:pt x="1153497" y="1718393"/>
                    <a:pt x="1129358" y="1739876"/>
                    <a:pt x="1100673" y="1739876"/>
                  </a:cubicBezTo>
                  <a:lnTo>
                    <a:pt x="44780" y="1739876"/>
                  </a:lnTo>
                  <a:cubicBezTo>
                    <a:pt x="31999" y="1739876"/>
                    <a:pt x="19827" y="1734414"/>
                    <a:pt x="11330" y="1724867"/>
                  </a:cubicBezTo>
                  <a:cubicBezTo>
                    <a:pt x="2833" y="1715320"/>
                    <a:pt x="-1180" y="1702596"/>
                    <a:pt x="303" y="1689901"/>
                  </a:cubicBezTo>
                  <a:lnTo>
                    <a:pt x="191829" y="49975"/>
                  </a:lnTo>
                  <a:cubicBezTo>
                    <a:pt x="195157" y="21483"/>
                    <a:pt x="219295" y="0"/>
                    <a:pt x="24798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1156521" cy="1777976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2179676" y="5955003"/>
            <a:ext cx="12581767" cy="4028490"/>
          </a:xfrm>
          <a:custGeom>
            <a:avLst/>
            <a:gdLst/>
            <a:ahLst/>
            <a:cxnLst/>
            <a:rect l="l" t="t" r="r" b="b"/>
            <a:pathLst>
              <a:path w="2520415" h="806999">
                <a:moveTo>
                  <a:pt x="222302" y="0"/>
                </a:moveTo>
                <a:lnTo>
                  <a:pt x="2501313" y="0"/>
                </a:lnTo>
                <a:cubicBezTo>
                  <a:pt x="2507200" y="0"/>
                  <a:pt x="2512759" y="2715"/>
                  <a:pt x="2516379" y="7359"/>
                </a:cubicBezTo>
                <a:cubicBezTo>
                  <a:pt x="2519998" y="12003"/>
                  <a:pt x="2521274" y="18057"/>
                  <a:pt x="2519836" y="23766"/>
                </a:cubicBezTo>
                <a:lnTo>
                  <a:pt x="2328605" y="783232"/>
                </a:lnTo>
                <a:cubicBezTo>
                  <a:pt x="2325086" y="797205"/>
                  <a:pt x="2312521" y="806999"/>
                  <a:pt x="2298113" y="806999"/>
                </a:cubicBezTo>
                <a:lnTo>
                  <a:pt x="19102" y="806999"/>
                </a:lnTo>
                <a:cubicBezTo>
                  <a:pt x="13214" y="806999"/>
                  <a:pt x="7655" y="804283"/>
                  <a:pt x="4036" y="799640"/>
                </a:cubicBezTo>
                <a:cubicBezTo>
                  <a:pt x="416" y="794996"/>
                  <a:pt x="-859" y="788942"/>
                  <a:pt x="578" y="783232"/>
                </a:cubicBezTo>
                <a:lnTo>
                  <a:pt x="191810" y="23766"/>
                </a:lnTo>
                <a:cubicBezTo>
                  <a:pt x="195328" y="9793"/>
                  <a:pt x="207893" y="0"/>
                  <a:pt x="222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endParaRPr lang="fr-FR" sz="1200"/>
          </a:p>
        </p:txBody>
      </p:sp>
      <p:sp>
        <p:nvSpPr>
          <p:cNvPr id="12" name="Freeform 12"/>
          <p:cNvSpPr/>
          <p:nvPr/>
        </p:nvSpPr>
        <p:spPr>
          <a:xfrm>
            <a:off x="6364081" y="4179141"/>
            <a:ext cx="300147" cy="300147"/>
          </a:xfrm>
          <a:custGeom>
            <a:avLst/>
            <a:gdLst/>
            <a:ahLst/>
            <a:cxnLst/>
            <a:rect l="l" t="t" r="r" b="b"/>
            <a:pathLst>
              <a:path w="450220" h="450220">
                <a:moveTo>
                  <a:pt x="0" y="0"/>
                </a:moveTo>
                <a:lnTo>
                  <a:pt x="450220" y="0"/>
                </a:lnTo>
                <a:lnTo>
                  <a:pt x="450220" y="450220"/>
                </a:lnTo>
                <a:lnTo>
                  <a:pt x="0" y="45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1200"/>
          </a:p>
        </p:txBody>
      </p:sp>
      <p:sp>
        <p:nvSpPr>
          <p:cNvPr id="13" name="Freeform 13"/>
          <p:cNvSpPr/>
          <p:nvPr/>
        </p:nvSpPr>
        <p:spPr>
          <a:xfrm>
            <a:off x="6376979" y="3687073"/>
            <a:ext cx="287248" cy="184883"/>
          </a:xfrm>
          <a:custGeom>
            <a:avLst/>
            <a:gdLst/>
            <a:ahLst/>
            <a:cxnLst/>
            <a:rect l="l" t="t" r="r" b="b"/>
            <a:pathLst>
              <a:path w="430872" h="277325">
                <a:moveTo>
                  <a:pt x="0" y="0"/>
                </a:moveTo>
                <a:lnTo>
                  <a:pt x="430872" y="0"/>
                </a:lnTo>
                <a:lnTo>
                  <a:pt x="430872" y="277325"/>
                </a:lnTo>
                <a:lnTo>
                  <a:pt x="0" y="27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1200"/>
          </a:p>
        </p:txBody>
      </p:sp>
      <p:sp>
        <p:nvSpPr>
          <p:cNvPr id="14" name="TextBox 14"/>
          <p:cNvSpPr txBox="1"/>
          <p:nvPr/>
        </p:nvSpPr>
        <p:spPr>
          <a:xfrm>
            <a:off x="1038666" y="552661"/>
            <a:ext cx="1944213" cy="21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2"/>
              </a:lnSpc>
            </a:pPr>
            <a:r>
              <a:rPr lang="en-US" sz="126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64081" y="2173342"/>
            <a:ext cx="5266745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70"/>
              </a:lnSpc>
            </a:pPr>
            <a:r>
              <a:rPr lang="en-US" sz="6518" b="1" dirty="0">
                <a:gradFill flip="none" rotWithShape="1">
                  <a:gsLst>
                    <a:gs pos="0">
                      <a:srgbClr val="0D9488">
                        <a:shade val="30000"/>
                        <a:satMod val="115000"/>
                      </a:srgbClr>
                    </a:gs>
                    <a:gs pos="50000">
                      <a:srgbClr val="0D9488">
                        <a:shade val="67500"/>
                        <a:satMod val="115000"/>
                      </a:srgbClr>
                    </a:gs>
                    <a:gs pos="100000">
                      <a:srgbClr val="0D9488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Poppins Bold"/>
                <a:ea typeface="Poppins Bold"/>
                <a:cs typeface="Poppins Bold"/>
                <a:sym typeface="Poppins Bold"/>
              </a:rPr>
              <a:t>Merci 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01237" y="4203691"/>
            <a:ext cx="4729589" cy="26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13"/>
              </a:lnSpc>
              <a:spcBef>
                <a:spcPct val="0"/>
              </a:spcBef>
            </a:pPr>
            <a:r>
              <a:rPr lang="en-US" sz="1581" b="1" dirty="0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tristan14123.github.io/</a:t>
            </a:r>
            <a:r>
              <a:rPr lang="en-US" sz="1581" b="1" dirty="0" err="1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formation_qgis</a:t>
            </a:r>
            <a:r>
              <a:rPr lang="en-US" sz="1581" b="1" dirty="0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01237" y="3622666"/>
            <a:ext cx="3944635" cy="26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13"/>
              </a:lnSpc>
              <a:spcBef>
                <a:spcPct val="0"/>
              </a:spcBef>
            </a:pPr>
            <a:r>
              <a:rPr lang="en-US" sz="1581" b="1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tristan.vachaudez@saint-lo-agglo.fr</a:t>
            </a:r>
          </a:p>
        </p:txBody>
      </p:sp>
      <p:sp>
        <p:nvSpPr>
          <p:cNvPr id="18" name="Freeform 18"/>
          <p:cNvSpPr/>
          <p:nvPr/>
        </p:nvSpPr>
        <p:spPr>
          <a:xfrm>
            <a:off x="721048" y="549645"/>
            <a:ext cx="230425" cy="234231"/>
          </a:xfrm>
          <a:custGeom>
            <a:avLst/>
            <a:gdLst/>
            <a:ahLst/>
            <a:cxnLst/>
            <a:rect l="l" t="t" r="r" b="b"/>
            <a:pathLst>
              <a:path w="345637" h="351346">
                <a:moveTo>
                  <a:pt x="0" y="0"/>
                </a:moveTo>
                <a:lnTo>
                  <a:pt x="345637" y="0"/>
                </a:lnTo>
                <a:lnTo>
                  <a:pt x="345637" y="351346"/>
                </a:lnTo>
                <a:lnTo>
                  <a:pt x="0" y="351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8093</TotalTime>
  <Words>3131</Words>
  <Application>Microsoft Office PowerPoint</Application>
  <PresentationFormat>Grand écran</PresentationFormat>
  <Paragraphs>286</Paragraphs>
  <Slides>28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9" baseType="lpstr">
      <vt:lpstr>Arial</vt:lpstr>
      <vt:lpstr>Calibri</vt:lpstr>
      <vt:lpstr>Cambria Math</vt:lpstr>
      <vt:lpstr>DM Sans</vt:lpstr>
      <vt:lpstr>Montserrat</vt:lpstr>
      <vt:lpstr>Montserrat Medium</vt:lpstr>
      <vt:lpstr>Open Sans</vt:lpstr>
      <vt:lpstr>Poppins</vt:lpstr>
      <vt:lpstr>Poppins Bold</vt:lpstr>
      <vt:lpstr>Poppins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VACHAUDEZ Tristan</dc:creator>
  <cp:keywords/>
  <dc:description>generated using python-pptx</dc:description>
  <cp:lastModifiedBy>VACHAUDEZ Tristan</cp:lastModifiedBy>
  <cp:revision>10</cp:revision>
  <dcterms:created xsi:type="dcterms:W3CDTF">2013-01-27T09:14:16Z</dcterms:created>
  <dcterms:modified xsi:type="dcterms:W3CDTF">2026-08-17T07:17:43Z</dcterms:modified>
  <cp:category/>
</cp:coreProperties>
</file>