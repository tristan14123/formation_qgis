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79" r:id="rId32"/>
  </p:sldIdLst>
  <p:sldSz cx="18288000" cy="10287000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Montserrat Medium" panose="00000600000000000000" pitchFamily="2" charset="0"/>
      <p:regular r:id="rId38"/>
      <p:italic r:id="rId39"/>
    </p:embeddedFont>
    <p:embeddedFont>
      <p:font typeface="Poppins" panose="00000500000000000000" pitchFamily="2" charset="0"/>
      <p:regular r:id="rId40"/>
      <p:bold r:id="rId41"/>
      <p:italic r:id="rId42"/>
      <p:boldItalic r:id="rId43"/>
    </p:embeddedFont>
    <p:embeddedFont>
      <p:font typeface="Poppins Bold" panose="00000800000000000000" charset="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323F2-3F4D-492F-AFD3-18603DB0AD4E}" type="datetimeFigureOut">
              <a:rPr lang="fr-FR" smtClean="0"/>
              <a:t>29/07/2026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71E95-D15B-4361-B33A-4CB49F5F1D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540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71E95-D15B-4361-B33A-4CB49F5F1DEF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7221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71E95-D15B-4361-B33A-4CB49F5F1DEF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9224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notebooklm.google.com/notebook/bec135f1-ad71-480d-95cf-ede7012a7cfe/artifact/68f3882c-8294-4115-b71d-f2c17b4d9d46?utm_source=nlm_web_share&amp;utm_medium=google_oo&amp;utm_campaign=art_share_2&amp;utm_content=&amp;utm_smc=nlm_web_share_google_oo_art_share_2_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notebooklm.google.com/notebook/bec135f1-ad71-480d-95cf-ede7012a7cfe/artifact/68f3882c-8294-4115-b71d-f2c17b4d9d46?utm_source=nlm_web_share&amp;utm_medium=google_oo&amp;utm_campaign=art_share_2&amp;utm_content=&amp;utm_smc=nlm_web_share_google_oo_art_share_2_" TargetMode="Externa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867899">
            <a:off x="-2973627" y="-6666509"/>
            <a:ext cx="12213453" cy="12081047"/>
            <a:chOff x="0" y="0"/>
            <a:chExt cx="1881515" cy="1861118"/>
          </a:xfrm>
        </p:grpSpPr>
        <p:sp>
          <p:nvSpPr>
            <p:cNvPr id="3" name="Freeform 3"/>
            <p:cNvSpPr/>
            <p:nvPr/>
          </p:nvSpPr>
          <p:spPr>
            <a:xfrm>
              <a:off x="3926" y="0"/>
              <a:ext cx="1873662" cy="1861118"/>
            </a:xfrm>
            <a:custGeom>
              <a:avLst/>
              <a:gdLst/>
              <a:ahLst/>
              <a:cxnLst/>
              <a:rect l="l" t="t" r="r" b="b"/>
              <a:pathLst>
                <a:path w="1873662" h="1861118">
                  <a:moveTo>
                    <a:pt x="237307" y="0"/>
                  </a:moveTo>
                  <a:lnTo>
                    <a:pt x="1839556" y="0"/>
                  </a:lnTo>
                  <a:cubicBezTo>
                    <a:pt x="1849246" y="0"/>
                    <a:pt x="1858479" y="4122"/>
                    <a:pt x="1864948" y="11336"/>
                  </a:cubicBezTo>
                  <a:cubicBezTo>
                    <a:pt x="1871417" y="18550"/>
                    <a:pt x="1874513" y="28176"/>
                    <a:pt x="1873461" y="37808"/>
                  </a:cubicBezTo>
                  <a:lnTo>
                    <a:pt x="1678517" y="1823309"/>
                  </a:lnTo>
                  <a:cubicBezTo>
                    <a:pt x="1676168" y="1844823"/>
                    <a:pt x="1657998" y="1861118"/>
                    <a:pt x="1636356" y="1861118"/>
                  </a:cubicBezTo>
                  <a:lnTo>
                    <a:pt x="34107" y="1861118"/>
                  </a:lnTo>
                  <a:cubicBezTo>
                    <a:pt x="24417" y="1861118"/>
                    <a:pt x="15184" y="1856996"/>
                    <a:pt x="8715" y="1849782"/>
                  </a:cubicBezTo>
                  <a:cubicBezTo>
                    <a:pt x="2246" y="1842568"/>
                    <a:pt x="-850" y="1832942"/>
                    <a:pt x="202" y="1823309"/>
                  </a:cubicBezTo>
                  <a:lnTo>
                    <a:pt x="195146" y="37808"/>
                  </a:lnTo>
                  <a:cubicBezTo>
                    <a:pt x="197495" y="16295"/>
                    <a:pt x="215665" y="0"/>
                    <a:pt x="2373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100000"/>
                  </a:srgbClr>
                </a:gs>
                <a:gs pos="100000">
                  <a:srgbClr val="43CC2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1678315" cy="1899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258300"/>
            <a:ext cx="19007579" cy="4876938"/>
            <a:chOff x="0" y="0"/>
            <a:chExt cx="2375880" cy="609600"/>
          </a:xfrm>
        </p:grpSpPr>
        <p:sp>
          <p:nvSpPr>
            <p:cNvPr id="6" name="Freeform 6"/>
            <p:cNvSpPr/>
            <p:nvPr/>
          </p:nvSpPr>
          <p:spPr>
            <a:xfrm>
              <a:off x="6824" y="0"/>
              <a:ext cx="2362232" cy="609600"/>
            </a:xfrm>
            <a:custGeom>
              <a:avLst/>
              <a:gdLst/>
              <a:ahLst/>
              <a:cxnLst/>
              <a:rect l="l" t="t" r="r" b="b"/>
              <a:pathLst>
                <a:path w="2362232" h="609600">
                  <a:moveTo>
                    <a:pt x="220814" y="0"/>
                  </a:moveTo>
                  <a:lnTo>
                    <a:pt x="2344618" y="0"/>
                  </a:lnTo>
                  <a:cubicBezTo>
                    <a:pt x="2350280" y="0"/>
                    <a:pt x="2355596" y="2722"/>
                    <a:pt x="2358907" y="7315"/>
                  </a:cubicBezTo>
                  <a:cubicBezTo>
                    <a:pt x="2362218" y="11908"/>
                    <a:pt x="2363118" y="17813"/>
                    <a:pt x="2361328" y="23184"/>
                  </a:cubicBezTo>
                  <a:lnTo>
                    <a:pt x="2173584" y="586416"/>
                  </a:lnTo>
                  <a:cubicBezTo>
                    <a:pt x="2168969" y="600261"/>
                    <a:pt x="2156012" y="609600"/>
                    <a:pt x="2141418" y="609600"/>
                  </a:cubicBezTo>
                  <a:lnTo>
                    <a:pt x="17614" y="609600"/>
                  </a:lnTo>
                  <a:cubicBezTo>
                    <a:pt x="11952" y="609600"/>
                    <a:pt x="6636" y="606878"/>
                    <a:pt x="3325" y="602285"/>
                  </a:cubicBezTo>
                  <a:cubicBezTo>
                    <a:pt x="14" y="597692"/>
                    <a:pt x="-886" y="591787"/>
                    <a:pt x="904" y="586416"/>
                  </a:cubicBezTo>
                  <a:lnTo>
                    <a:pt x="188648" y="23184"/>
                  </a:lnTo>
                  <a:cubicBezTo>
                    <a:pt x="193263" y="9339"/>
                    <a:pt x="206220" y="0"/>
                    <a:pt x="220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100000"/>
                  </a:srgbClr>
                </a:gs>
                <a:gs pos="100000">
                  <a:srgbClr val="43CC2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1726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2106552"/>
            <a:ext cx="4967793" cy="496779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4033" r="-34033"/>
              </a:stretch>
            </a:blipFill>
            <a:ln w="381000" cap="sq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52965" y="836497"/>
            <a:ext cx="384406" cy="384406"/>
          </a:xfrm>
          <a:custGeom>
            <a:avLst/>
            <a:gdLst/>
            <a:ahLst/>
            <a:cxnLst/>
            <a:rect l="l" t="t" r="r" b="b"/>
            <a:pathLst>
              <a:path w="384406" h="384406">
                <a:moveTo>
                  <a:pt x="0" y="0"/>
                </a:moveTo>
                <a:lnTo>
                  <a:pt x="384405" y="0"/>
                </a:lnTo>
                <a:lnTo>
                  <a:pt x="384405" y="384406"/>
                </a:lnTo>
                <a:lnTo>
                  <a:pt x="0" y="3844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1073299" y="850717"/>
            <a:ext cx="345637" cy="351346"/>
          </a:xfrm>
          <a:custGeom>
            <a:avLst/>
            <a:gdLst/>
            <a:ahLst/>
            <a:cxnLst/>
            <a:rect l="l" t="t" r="r" b="b"/>
            <a:pathLst>
              <a:path w="345637" h="351346">
                <a:moveTo>
                  <a:pt x="0" y="0"/>
                </a:moveTo>
                <a:lnTo>
                  <a:pt x="345637" y="0"/>
                </a:lnTo>
                <a:lnTo>
                  <a:pt x="345637" y="351346"/>
                </a:lnTo>
                <a:lnTo>
                  <a:pt x="0" y="3513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1557999" y="828992"/>
            <a:ext cx="2916319" cy="327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Formation </a:t>
            </a:r>
            <a:r>
              <a:rPr lang="en-US" sz="1898" b="1" dirty="0">
                <a:solidFill>
                  <a:srgbClr val="92D050"/>
                </a:solidFill>
                <a:latin typeface="Poppins Bold"/>
                <a:ea typeface="Poppins Bold"/>
                <a:cs typeface="Poppins Bold"/>
                <a:sym typeface="Poppins Bold"/>
              </a:rPr>
              <a:t>QGIS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10322" y="3072364"/>
            <a:ext cx="7826905" cy="1936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39"/>
              </a:lnSpc>
            </a:pPr>
            <a:r>
              <a:rPr lang="en-US" sz="6672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Formation QGIS</a:t>
            </a:r>
          </a:p>
          <a:p>
            <a:pPr marL="0" lvl="0" indent="0" algn="l">
              <a:lnSpc>
                <a:spcPts val="7339"/>
              </a:lnSpc>
            </a:pPr>
            <a:r>
              <a:rPr lang="en-US" sz="6672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Niveau Débutant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10322" y="5547707"/>
            <a:ext cx="7536490" cy="906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7"/>
              </a:lnSpc>
            </a:pPr>
            <a:r>
              <a:rPr lang="en-US" sz="3124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De la </a:t>
            </a:r>
            <a:r>
              <a:rPr lang="en-US" sz="3124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prise</a:t>
            </a:r>
            <a:r>
              <a:rPr lang="en-US" sz="3124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en main à la </a:t>
            </a:r>
            <a:r>
              <a:rPr lang="en-US" sz="3124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création</a:t>
            </a:r>
            <a:r>
              <a:rPr lang="en-US" sz="3124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24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d'atlas</a:t>
            </a:r>
            <a:r>
              <a:rPr lang="en-US" sz="3124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24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cartographiques</a:t>
            </a:r>
            <a:endParaRPr lang="en-US" sz="3124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144000" y="965066"/>
            <a:ext cx="1662550" cy="403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49"/>
              </a:lnSpc>
              <a:spcBef>
                <a:spcPct val="0"/>
              </a:spcBef>
            </a:pPr>
            <a:r>
              <a:rPr lang="en-US" sz="22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Accueil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08122" y="967280"/>
            <a:ext cx="1907082" cy="400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Programme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26729" y="943100"/>
            <a:ext cx="1916881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7826" y="816866"/>
            <a:ext cx="356785" cy="471297"/>
          </a:xfrm>
          <a:custGeom>
            <a:avLst/>
            <a:gdLst/>
            <a:ahLst/>
            <a:cxnLst/>
            <a:rect l="l" t="t" r="r" b="b"/>
            <a:pathLst>
              <a:path w="356785" h="471297">
                <a:moveTo>
                  <a:pt x="0" y="0"/>
                </a:moveTo>
                <a:lnTo>
                  <a:pt x="356785" y="0"/>
                </a:lnTo>
                <a:lnTo>
                  <a:pt x="356785" y="471297"/>
                </a:lnTo>
                <a:lnTo>
                  <a:pt x="0" y="471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557999" y="838517"/>
            <a:ext cx="2916319" cy="307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49"/>
              </a:lnSpc>
            </a:pPr>
            <a:r>
              <a:rPr lang="en-US" sz="17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Formation QGIS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74645" y="2508434"/>
            <a:ext cx="4911031" cy="114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20"/>
              </a:lnSpc>
            </a:pPr>
            <a:r>
              <a:rPr lang="en-US" sz="1657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Prise</a:t>
            </a:r>
            <a:r>
              <a:rPr lang="en-US" sz="1657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en main de </a:t>
            </a:r>
            <a:r>
              <a:rPr lang="en-US" sz="1657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l'interface</a:t>
            </a:r>
            <a:r>
              <a:rPr lang="en-US" sz="1657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QGIS et </a:t>
            </a:r>
            <a:r>
              <a:rPr lang="en-US" sz="1657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découverte</a:t>
            </a:r>
            <a:r>
              <a:rPr lang="en-US" sz="1657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des </a:t>
            </a:r>
            <a:r>
              <a:rPr lang="en-US" sz="1657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panneaux</a:t>
            </a:r>
            <a:r>
              <a:rPr lang="en-US" sz="1657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7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principaux</a:t>
            </a:r>
            <a:r>
              <a:rPr lang="en-US" sz="1657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. Exploration des concepts </a:t>
            </a:r>
            <a:r>
              <a:rPr lang="en-US" sz="1657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fondamentaux</a:t>
            </a:r>
            <a:r>
              <a:rPr lang="en-US" sz="1657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des </a:t>
            </a:r>
            <a:r>
              <a:rPr lang="en-US" sz="1657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Systèmes</a:t>
            </a:r>
            <a:r>
              <a:rPr lang="en-US" sz="1657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7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d'Information</a:t>
            </a:r>
            <a:r>
              <a:rPr lang="en-US" sz="1657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57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Géographique</a:t>
            </a:r>
            <a:r>
              <a:rPr lang="en-US" sz="1657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4645" y="4756516"/>
            <a:ext cx="4911031" cy="114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20"/>
              </a:lnSpc>
            </a:pPr>
            <a:r>
              <a:rPr lang="en-US" sz="1657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Comprendre les systèmes de projection et leurs applications. Importer et gérer différents formats de données géographiques (Shapefile, GeoPackage, CSV).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4645" y="2146299"/>
            <a:ext cx="2937869" cy="291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20"/>
              </a:lnSpc>
            </a:pPr>
            <a:r>
              <a:rPr lang="en-US" sz="1657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aux SIG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4645" y="4394381"/>
            <a:ext cx="2937869" cy="291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20"/>
              </a:lnSpc>
            </a:pPr>
            <a:r>
              <a:rPr lang="en-US" sz="1657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Gestion des données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67826" y="2241549"/>
            <a:ext cx="472987" cy="472987"/>
            <a:chOff x="0" y="0"/>
            <a:chExt cx="82312" cy="823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2312" cy="82312"/>
            </a:xfrm>
            <a:custGeom>
              <a:avLst/>
              <a:gdLst/>
              <a:ahLst/>
              <a:cxnLst/>
              <a:rect l="l" t="t" r="r" b="b"/>
              <a:pathLst>
                <a:path w="82312" h="82312">
                  <a:moveTo>
                    <a:pt x="41156" y="0"/>
                  </a:moveTo>
                  <a:lnTo>
                    <a:pt x="41156" y="0"/>
                  </a:lnTo>
                  <a:cubicBezTo>
                    <a:pt x="52071" y="0"/>
                    <a:pt x="62539" y="4336"/>
                    <a:pt x="70258" y="12054"/>
                  </a:cubicBezTo>
                  <a:cubicBezTo>
                    <a:pt x="77976" y="19773"/>
                    <a:pt x="82312" y="30241"/>
                    <a:pt x="82312" y="41156"/>
                  </a:cubicBezTo>
                  <a:lnTo>
                    <a:pt x="82312" y="41156"/>
                  </a:lnTo>
                  <a:cubicBezTo>
                    <a:pt x="82312" y="52071"/>
                    <a:pt x="77976" y="62539"/>
                    <a:pt x="70258" y="70258"/>
                  </a:cubicBezTo>
                  <a:cubicBezTo>
                    <a:pt x="62539" y="77976"/>
                    <a:pt x="52071" y="82312"/>
                    <a:pt x="41156" y="82312"/>
                  </a:cubicBezTo>
                  <a:lnTo>
                    <a:pt x="41156" y="82312"/>
                  </a:lnTo>
                  <a:cubicBezTo>
                    <a:pt x="30241" y="82312"/>
                    <a:pt x="19773" y="77976"/>
                    <a:pt x="12054" y="70258"/>
                  </a:cubicBezTo>
                  <a:cubicBezTo>
                    <a:pt x="4336" y="62539"/>
                    <a:pt x="0" y="52071"/>
                    <a:pt x="0" y="41156"/>
                  </a:cubicBezTo>
                  <a:lnTo>
                    <a:pt x="0" y="41156"/>
                  </a:lnTo>
                  <a:cubicBezTo>
                    <a:pt x="0" y="30241"/>
                    <a:pt x="4336" y="19773"/>
                    <a:pt x="12054" y="12054"/>
                  </a:cubicBezTo>
                  <a:cubicBezTo>
                    <a:pt x="19773" y="4336"/>
                    <a:pt x="30241" y="0"/>
                    <a:pt x="411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296">
                    <a:alpha val="100000"/>
                  </a:srgbClr>
                </a:gs>
                <a:gs pos="100000">
                  <a:srgbClr val="2B79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82312" cy="14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3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7826" y="4453439"/>
            <a:ext cx="472987" cy="472987"/>
            <a:chOff x="0" y="0"/>
            <a:chExt cx="82312" cy="823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2312" cy="82312"/>
            </a:xfrm>
            <a:custGeom>
              <a:avLst/>
              <a:gdLst/>
              <a:ahLst/>
              <a:cxnLst/>
              <a:rect l="l" t="t" r="r" b="b"/>
              <a:pathLst>
                <a:path w="82312" h="82312">
                  <a:moveTo>
                    <a:pt x="41156" y="0"/>
                  </a:moveTo>
                  <a:lnTo>
                    <a:pt x="41156" y="0"/>
                  </a:lnTo>
                  <a:cubicBezTo>
                    <a:pt x="52071" y="0"/>
                    <a:pt x="62539" y="4336"/>
                    <a:pt x="70258" y="12054"/>
                  </a:cubicBezTo>
                  <a:cubicBezTo>
                    <a:pt x="77976" y="19773"/>
                    <a:pt x="82312" y="30241"/>
                    <a:pt x="82312" y="41156"/>
                  </a:cubicBezTo>
                  <a:lnTo>
                    <a:pt x="82312" y="41156"/>
                  </a:lnTo>
                  <a:cubicBezTo>
                    <a:pt x="82312" y="52071"/>
                    <a:pt x="77976" y="62539"/>
                    <a:pt x="70258" y="70258"/>
                  </a:cubicBezTo>
                  <a:cubicBezTo>
                    <a:pt x="62539" y="77976"/>
                    <a:pt x="52071" y="82312"/>
                    <a:pt x="41156" y="82312"/>
                  </a:cubicBezTo>
                  <a:lnTo>
                    <a:pt x="41156" y="82312"/>
                  </a:lnTo>
                  <a:cubicBezTo>
                    <a:pt x="30241" y="82312"/>
                    <a:pt x="19773" y="77976"/>
                    <a:pt x="12054" y="70258"/>
                  </a:cubicBezTo>
                  <a:cubicBezTo>
                    <a:pt x="4336" y="62539"/>
                    <a:pt x="0" y="52071"/>
                    <a:pt x="0" y="41156"/>
                  </a:cubicBezTo>
                  <a:lnTo>
                    <a:pt x="0" y="41156"/>
                  </a:lnTo>
                  <a:cubicBezTo>
                    <a:pt x="0" y="30241"/>
                    <a:pt x="4336" y="19773"/>
                    <a:pt x="12054" y="12054"/>
                  </a:cubicBezTo>
                  <a:cubicBezTo>
                    <a:pt x="19773" y="4336"/>
                    <a:pt x="30241" y="0"/>
                    <a:pt x="411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296">
                    <a:alpha val="100000"/>
                  </a:srgbClr>
                </a:gs>
                <a:gs pos="100000">
                  <a:srgbClr val="2B79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82312" cy="14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66131" y="2231798"/>
            <a:ext cx="276378" cy="39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43"/>
              </a:lnSpc>
            </a:pPr>
            <a:r>
              <a:rPr lang="en-US" sz="217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6131" y="4443687"/>
            <a:ext cx="276378" cy="39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43"/>
              </a:lnSpc>
            </a:pPr>
            <a:r>
              <a:rPr lang="en-US" sz="217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67826" y="6619418"/>
            <a:ext cx="472987" cy="472987"/>
            <a:chOff x="0" y="0"/>
            <a:chExt cx="82312" cy="823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2312" cy="82312"/>
            </a:xfrm>
            <a:custGeom>
              <a:avLst/>
              <a:gdLst/>
              <a:ahLst/>
              <a:cxnLst/>
              <a:rect l="l" t="t" r="r" b="b"/>
              <a:pathLst>
                <a:path w="82312" h="82312">
                  <a:moveTo>
                    <a:pt x="41156" y="0"/>
                  </a:moveTo>
                  <a:lnTo>
                    <a:pt x="41156" y="0"/>
                  </a:lnTo>
                  <a:cubicBezTo>
                    <a:pt x="52071" y="0"/>
                    <a:pt x="62539" y="4336"/>
                    <a:pt x="70258" y="12054"/>
                  </a:cubicBezTo>
                  <a:cubicBezTo>
                    <a:pt x="77976" y="19773"/>
                    <a:pt x="82312" y="30241"/>
                    <a:pt x="82312" y="41156"/>
                  </a:cubicBezTo>
                  <a:lnTo>
                    <a:pt x="82312" y="41156"/>
                  </a:lnTo>
                  <a:cubicBezTo>
                    <a:pt x="82312" y="52071"/>
                    <a:pt x="77976" y="62539"/>
                    <a:pt x="70258" y="70258"/>
                  </a:cubicBezTo>
                  <a:cubicBezTo>
                    <a:pt x="62539" y="77976"/>
                    <a:pt x="52071" y="82312"/>
                    <a:pt x="41156" y="82312"/>
                  </a:cubicBezTo>
                  <a:lnTo>
                    <a:pt x="41156" y="82312"/>
                  </a:lnTo>
                  <a:cubicBezTo>
                    <a:pt x="30241" y="82312"/>
                    <a:pt x="19773" y="77976"/>
                    <a:pt x="12054" y="70258"/>
                  </a:cubicBezTo>
                  <a:cubicBezTo>
                    <a:pt x="4336" y="62539"/>
                    <a:pt x="0" y="52071"/>
                    <a:pt x="0" y="41156"/>
                  </a:cubicBezTo>
                  <a:lnTo>
                    <a:pt x="0" y="41156"/>
                  </a:lnTo>
                  <a:cubicBezTo>
                    <a:pt x="0" y="30241"/>
                    <a:pt x="4336" y="19773"/>
                    <a:pt x="12054" y="12054"/>
                  </a:cubicBezTo>
                  <a:cubicBezTo>
                    <a:pt x="19773" y="4336"/>
                    <a:pt x="30241" y="0"/>
                    <a:pt x="411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296">
                    <a:alpha val="100000"/>
                  </a:srgbClr>
                </a:gs>
                <a:gs pos="100000">
                  <a:srgbClr val="2B79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82312" cy="14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3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393960" y="2193924"/>
            <a:ext cx="472987" cy="472987"/>
            <a:chOff x="0" y="0"/>
            <a:chExt cx="82312" cy="823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2312" cy="82312"/>
            </a:xfrm>
            <a:custGeom>
              <a:avLst/>
              <a:gdLst/>
              <a:ahLst/>
              <a:cxnLst/>
              <a:rect l="l" t="t" r="r" b="b"/>
              <a:pathLst>
                <a:path w="82312" h="82312">
                  <a:moveTo>
                    <a:pt x="41156" y="0"/>
                  </a:moveTo>
                  <a:lnTo>
                    <a:pt x="41156" y="0"/>
                  </a:lnTo>
                  <a:cubicBezTo>
                    <a:pt x="52071" y="0"/>
                    <a:pt x="62539" y="4336"/>
                    <a:pt x="70258" y="12054"/>
                  </a:cubicBezTo>
                  <a:cubicBezTo>
                    <a:pt x="77976" y="19773"/>
                    <a:pt x="82312" y="30241"/>
                    <a:pt x="82312" y="41156"/>
                  </a:cubicBezTo>
                  <a:lnTo>
                    <a:pt x="82312" y="41156"/>
                  </a:lnTo>
                  <a:cubicBezTo>
                    <a:pt x="82312" y="52071"/>
                    <a:pt x="77976" y="62539"/>
                    <a:pt x="70258" y="70258"/>
                  </a:cubicBezTo>
                  <a:cubicBezTo>
                    <a:pt x="62539" y="77976"/>
                    <a:pt x="52071" y="82312"/>
                    <a:pt x="41156" y="82312"/>
                  </a:cubicBezTo>
                  <a:lnTo>
                    <a:pt x="41156" y="82312"/>
                  </a:lnTo>
                  <a:cubicBezTo>
                    <a:pt x="30241" y="82312"/>
                    <a:pt x="19773" y="77976"/>
                    <a:pt x="12054" y="70258"/>
                  </a:cubicBezTo>
                  <a:cubicBezTo>
                    <a:pt x="4336" y="62539"/>
                    <a:pt x="0" y="52071"/>
                    <a:pt x="0" y="41156"/>
                  </a:cubicBezTo>
                  <a:lnTo>
                    <a:pt x="0" y="41156"/>
                  </a:lnTo>
                  <a:cubicBezTo>
                    <a:pt x="0" y="30241"/>
                    <a:pt x="4336" y="19773"/>
                    <a:pt x="12054" y="12054"/>
                  </a:cubicBezTo>
                  <a:cubicBezTo>
                    <a:pt x="19773" y="4336"/>
                    <a:pt x="30241" y="0"/>
                    <a:pt x="411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296">
                    <a:alpha val="100000"/>
                  </a:srgbClr>
                </a:gs>
                <a:gs pos="100000">
                  <a:srgbClr val="2B79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82312" cy="14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3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200322" y="2662826"/>
            <a:ext cx="6103661" cy="781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96"/>
              </a:lnSpc>
            </a:pPr>
            <a:r>
              <a:rPr lang="en-US" sz="1497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Styles de symboles (catégorisé, gradué), étiquetage avancé, règles de représentation, création de légendes personnalisées, export de styles réutilisables.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66131" y="6600142"/>
            <a:ext cx="276378" cy="43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2"/>
              </a:lnSpc>
            </a:pPr>
            <a:r>
              <a:rPr lang="en-US" sz="235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92265" y="2174648"/>
            <a:ext cx="276378" cy="43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2"/>
              </a:lnSpc>
            </a:pPr>
            <a:r>
              <a:rPr lang="en-US" sz="235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41889" y="7012346"/>
            <a:ext cx="4843787" cy="148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60"/>
              </a:lnSpc>
            </a:pPr>
            <a:r>
              <a:rPr lang="en-US" sz="1686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Sélections attributaires et spatiales, calculs de champs, jointures de tables, géotraitements de base (buffer, intersection, découpage), analyse thématique des données.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41889" y="6581318"/>
            <a:ext cx="5595279" cy="26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96"/>
              </a:lnSpc>
            </a:pPr>
            <a:r>
              <a:rPr lang="en-US" sz="1497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Manipulation et analyse de données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00322" y="2212748"/>
            <a:ext cx="3651323" cy="26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96"/>
              </a:lnSpc>
            </a:pPr>
            <a:r>
              <a:rPr lang="en-US" sz="1497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Symbologie et analyse visuelle 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393960" y="4442006"/>
            <a:ext cx="472987" cy="472987"/>
            <a:chOff x="0" y="0"/>
            <a:chExt cx="82312" cy="8231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2312" cy="82312"/>
            </a:xfrm>
            <a:custGeom>
              <a:avLst/>
              <a:gdLst/>
              <a:ahLst/>
              <a:cxnLst/>
              <a:rect l="l" t="t" r="r" b="b"/>
              <a:pathLst>
                <a:path w="82312" h="82312">
                  <a:moveTo>
                    <a:pt x="41156" y="0"/>
                  </a:moveTo>
                  <a:lnTo>
                    <a:pt x="41156" y="0"/>
                  </a:lnTo>
                  <a:cubicBezTo>
                    <a:pt x="52071" y="0"/>
                    <a:pt x="62539" y="4336"/>
                    <a:pt x="70258" y="12054"/>
                  </a:cubicBezTo>
                  <a:cubicBezTo>
                    <a:pt x="77976" y="19773"/>
                    <a:pt x="82312" y="30241"/>
                    <a:pt x="82312" y="41156"/>
                  </a:cubicBezTo>
                  <a:lnTo>
                    <a:pt x="82312" y="41156"/>
                  </a:lnTo>
                  <a:cubicBezTo>
                    <a:pt x="82312" y="52071"/>
                    <a:pt x="77976" y="62539"/>
                    <a:pt x="70258" y="70258"/>
                  </a:cubicBezTo>
                  <a:cubicBezTo>
                    <a:pt x="62539" y="77976"/>
                    <a:pt x="52071" y="82312"/>
                    <a:pt x="41156" y="82312"/>
                  </a:cubicBezTo>
                  <a:lnTo>
                    <a:pt x="41156" y="82312"/>
                  </a:lnTo>
                  <a:cubicBezTo>
                    <a:pt x="30241" y="82312"/>
                    <a:pt x="19773" y="77976"/>
                    <a:pt x="12054" y="70258"/>
                  </a:cubicBezTo>
                  <a:cubicBezTo>
                    <a:pt x="4336" y="62539"/>
                    <a:pt x="0" y="52071"/>
                    <a:pt x="0" y="41156"/>
                  </a:cubicBezTo>
                  <a:lnTo>
                    <a:pt x="0" y="41156"/>
                  </a:lnTo>
                  <a:cubicBezTo>
                    <a:pt x="0" y="30241"/>
                    <a:pt x="4336" y="19773"/>
                    <a:pt x="12054" y="12054"/>
                  </a:cubicBezTo>
                  <a:cubicBezTo>
                    <a:pt x="19773" y="4336"/>
                    <a:pt x="30241" y="0"/>
                    <a:pt x="411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D1296">
                    <a:alpha val="100000"/>
                  </a:srgbClr>
                </a:gs>
                <a:gs pos="100000">
                  <a:srgbClr val="2B79F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82312" cy="14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3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144000" y="4978481"/>
            <a:ext cx="6782240" cy="87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30"/>
              </a:lnSpc>
            </a:pPr>
            <a:r>
              <a:rPr lang="en-US" sz="1664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Styles de symboles (catégorisé, gradué), étiquetage avancé, règles de représentation, création de légendes personnalisées, export de styles réutilisables.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92265" y="4422730"/>
            <a:ext cx="276378" cy="854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2"/>
              </a:lnSpc>
            </a:pPr>
            <a:r>
              <a:rPr lang="en-US" sz="235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00322" y="4460830"/>
            <a:ext cx="3651323" cy="26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96"/>
              </a:lnSpc>
            </a:pPr>
            <a:r>
              <a:rPr lang="en-US" sz="1497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Mise en page et </a:t>
            </a:r>
            <a:r>
              <a:rPr lang="en-US" sz="1497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création</a:t>
            </a:r>
            <a:r>
              <a:rPr lang="en-US" sz="1497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1497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d'atlas</a:t>
            </a:r>
            <a:endParaRPr lang="en-US" sz="1497" b="1" dirty="0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9144000" y="965066"/>
            <a:ext cx="1662550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Accueil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08122" y="967280"/>
            <a:ext cx="1907082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Programme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726729" y="943100"/>
            <a:ext cx="1916881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Modules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0" y="9258300"/>
            <a:ext cx="19007579" cy="4876938"/>
            <a:chOff x="0" y="0"/>
            <a:chExt cx="2375880" cy="609600"/>
          </a:xfrm>
        </p:grpSpPr>
        <p:sp>
          <p:nvSpPr>
            <p:cNvPr id="38" name="Freeform 38"/>
            <p:cNvSpPr/>
            <p:nvPr/>
          </p:nvSpPr>
          <p:spPr>
            <a:xfrm>
              <a:off x="6824" y="0"/>
              <a:ext cx="2362232" cy="609600"/>
            </a:xfrm>
            <a:custGeom>
              <a:avLst/>
              <a:gdLst/>
              <a:ahLst/>
              <a:cxnLst/>
              <a:rect l="l" t="t" r="r" b="b"/>
              <a:pathLst>
                <a:path w="2362232" h="609600">
                  <a:moveTo>
                    <a:pt x="220814" y="0"/>
                  </a:moveTo>
                  <a:lnTo>
                    <a:pt x="2344618" y="0"/>
                  </a:lnTo>
                  <a:cubicBezTo>
                    <a:pt x="2350280" y="0"/>
                    <a:pt x="2355596" y="2722"/>
                    <a:pt x="2358907" y="7315"/>
                  </a:cubicBezTo>
                  <a:cubicBezTo>
                    <a:pt x="2362218" y="11908"/>
                    <a:pt x="2363118" y="17813"/>
                    <a:pt x="2361328" y="23184"/>
                  </a:cubicBezTo>
                  <a:lnTo>
                    <a:pt x="2173584" y="586416"/>
                  </a:lnTo>
                  <a:cubicBezTo>
                    <a:pt x="2168969" y="600261"/>
                    <a:pt x="2156012" y="609600"/>
                    <a:pt x="2141418" y="609600"/>
                  </a:cubicBezTo>
                  <a:lnTo>
                    <a:pt x="17614" y="609600"/>
                  </a:lnTo>
                  <a:cubicBezTo>
                    <a:pt x="11952" y="609600"/>
                    <a:pt x="6636" y="606878"/>
                    <a:pt x="3325" y="602285"/>
                  </a:cubicBezTo>
                  <a:cubicBezTo>
                    <a:pt x="14" y="597692"/>
                    <a:pt x="-886" y="591787"/>
                    <a:pt x="904" y="586416"/>
                  </a:cubicBezTo>
                  <a:lnTo>
                    <a:pt x="188648" y="23184"/>
                  </a:lnTo>
                  <a:cubicBezTo>
                    <a:pt x="193263" y="9339"/>
                    <a:pt x="206220" y="0"/>
                    <a:pt x="220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58000"/>
                  </a:srgbClr>
                </a:gs>
                <a:gs pos="100000">
                  <a:srgbClr val="43CC25">
                    <a:alpha val="58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600" y="-38100"/>
              <a:ext cx="21726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2419921"/>
            <a:ext cx="7724541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Qu'est-ce qu'un SIG ?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3729316"/>
            <a:ext cx="14324894" cy="3978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Système d'Information Géographique</a:t>
            </a:r>
          </a:p>
          <a:p>
            <a:pPr marL="539446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Collecte, stockage, manipulation, analyse et restitution de données géographiques</a:t>
            </a:r>
          </a:p>
          <a:p>
            <a:pPr marL="539446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Lien objet spatial ↔ base de données attributaire</a:t>
            </a:r>
          </a:p>
          <a:p>
            <a:pPr marL="539446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Cas d'usage agents: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Cartographier les travaux de voirie et consulter l'état d'avancement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Gérer les réseaux d'eau avec caractéristiques des canalisation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Suivre les dossiers de permis de construire par parcelle</a:t>
            </a:r>
          </a:p>
          <a:p>
            <a:pPr marL="0" lvl="0" indent="0" algn="just">
              <a:lnSpc>
                <a:spcPts val="3498"/>
              </a:lnSpc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Différence avec carte papier: Interactivité, analyse, mise à jour continue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726729" y="943100"/>
            <a:ext cx="1916881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9258300"/>
            <a:ext cx="19007579" cy="4876938"/>
            <a:chOff x="0" y="0"/>
            <a:chExt cx="2375880" cy="609600"/>
          </a:xfrm>
        </p:grpSpPr>
        <p:sp>
          <p:nvSpPr>
            <p:cNvPr id="6" name="Freeform 6"/>
            <p:cNvSpPr/>
            <p:nvPr/>
          </p:nvSpPr>
          <p:spPr>
            <a:xfrm>
              <a:off x="6824" y="0"/>
              <a:ext cx="2362232" cy="609600"/>
            </a:xfrm>
            <a:custGeom>
              <a:avLst/>
              <a:gdLst/>
              <a:ahLst/>
              <a:cxnLst/>
              <a:rect l="l" t="t" r="r" b="b"/>
              <a:pathLst>
                <a:path w="2362232" h="609600">
                  <a:moveTo>
                    <a:pt x="220814" y="0"/>
                  </a:moveTo>
                  <a:lnTo>
                    <a:pt x="2344618" y="0"/>
                  </a:lnTo>
                  <a:cubicBezTo>
                    <a:pt x="2350280" y="0"/>
                    <a:pt x="2355596" y="2722"/>
                    <a:pt x="2358907" y="7315"/>
                  </a:cubicBezTo>
                  <a:cubicBezTo>
                    <a:pt x="2362218" y="11908"/>
                    <a:pt x="2363118" y="17813"/>
                    <a:pt x="2361328" y="23184"/>
                  </a:cubicBezTo>
                  <a:lnTo>
                    <a:pt x="2173584" y="586416"/>
                  </a:lnTo>
                  <a:cubicBezTo>
                    <a:pt x="2168969" y="600261"/>
                    <a:pt x="2156012" y="609600"/>
                    <a:pt x="2141418" y="609600"/>
                  </a:cubicBezTo>
                  <a:lnTo>
                    <a:pt x="17614" y="609600"/>
                  </a:lnTo>
                  <a:cubicBezTo>
                    <a:pt x="11952" y="609600"/>
                    <a:pt x="6636" y="606878"/>
                    <a:pt x="3325" y="602285"/>
                  </a:cubicBezTo>
                  <a:cubicBezTo>
                    <a:pt x="14" y="597692"/>
                    <a:pt x="-886" y="591787"/>
                    <a:pt x="904" y="586416"/>
                  </a:cubicBezTo>
                  <a:lnTo>
                    <a:pt x="188648" y="23184"/>
                  </a:lnTo>
                  <a:cubicBezTo>
                    <a:pt x="193263" y="9339"/>
                    <a:pt x="206220" y="0"/>
                    <a:pt x="220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19000"/>
                  </a:srgbClr>
                </a:gs>
                <a:gs pos="100000">
                  <a:srgbClr val="43CC25">
                    <a:alpha val="19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1726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3729316"/>
            <a:ext cx="14324894" cy="52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Mode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Vecteur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Points: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Mairie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borne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incendie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captage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coordonnées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X,Y)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Lignes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Route,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cours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d'eau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canalisation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(succession de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sommets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Polygones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Parcelle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zone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inondable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bâtiment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(surface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fermée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Mode Raster: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Grille de pixels avec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valeur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par cellule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Orthophoto: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Photographie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aérienne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redressée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(20cm IGN)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MNT: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Modèle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Numérique de Terrain (altitude en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mètres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par pixel)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Règle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pratique: Les deux coexistent dans un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même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projet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QGIS</a:t>
            </a:r>
          </a:p>
          <a:p>
            <a:pPr marL="0" lvl="0" indent="0"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9258300"/>
            <a:ext cx="19007579" cy="4876938"/>
            <a:chOff x="0" y="0"/>
            <a:chExt cx="2375880" cy="609600"/>
          </a:xfrm>
        </p:grpSpPr>
        <p:sp>
          <p:nvSpPr>
            <p:cNvPr id="4" name="Freeform 4"/>
            <p:cNvSpPr/>
            <p:nvPr/>
          </p:nvSpPr>
          <p:spPr>
            <a:xfrm>
              <a:off x="6824" y="0"/>
              <a:ext cx="2362232" cy="609600"/>
            </a:xfrm>
            <a:custGeom>
              <a:avLst/>
              <a:gdLst/>
              <a:ahLst/>
              <a:cxnLst/>
              <a:rect l="l" t="t" r="r" b="b"/>
              <a:pathLst>
                <a:path w="2362232" h="609600">
                  <a:moveTo>
                    <a:pt x="220814" y="0"/>
                  </a:moveTo>
                  <a:lnTo>
                    <a:pt x="2344618" y="0"/>
                  </a:lnTo>
                  <a:cubicBezTo>
                    <a:pt x="2350280" y="0"/>
                    <a:pt x="2355596" y="2722"/>
                    <a:pt x="2358907" y="7315"/>
                  </a:cubicBezTo>
                  <a:cubicBezTo>
                    <a:pt x="2362218" y="11908"/>
                    <a:pt x="2363118" y="17813"/>
                    <a:pt x="2361328" y="23184"/>
                  </a:cubicBezTo>
                  <a:lnTo>
                    <a:pt x="2173584" y="586416"/>
                  </a:lnTo>
                  <a:cubicBezTo>
                    <a:pt x="2168969" y="600261"/>
                    <a:pt x="2156012" y="609600"/>
                    <a:pt x="2141418" y="609600"/>
                  </a:cubicBezTo>
                  <a:lnTo>
                    <a:pt x="17614" y="609600"/>
                  </a:lnTo>
                  <a:cubicBezTo>
                    <a:pt x="11952" y="609600"/>
                    <a:pt x="6636" y="606878"/>
                    <a:pt x="3325" y="602285"/>
                  </a:cubicBezTo>
                  <a:cubicBezTo>
                    <a:pt x="14" y="597692"/>
                    <a:pt x="-886" y="591787"/>
                    <a:pt x="904" y="586416"/>
                  </a:cubicBezTo>
                  <a:lnTo>
                    <a:pt x="188648" y="23184"/>
                  </a:lnTo>
                  <a:cubicBezTo>
                    <a:pt x="193263" y="9339"/>
                    <a:pt x="206220" y="0"/>
                    <a:pt x="220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5000"/>
                  </a:srgbClr>
                </a:gs>
                <a:gs pos="100000">
                  <a:srgbClr val="43CC25">
                    <a:alpha val="5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1726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33722" y="2419921"/>
            <a:ext cx="7724541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Mode Vecteur vs Raster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213851"/>
            <a:ext cx="15425578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Interface QGIS - Les essentiels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399091"/>
            <a:ext cx="14324894" cy="745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Panneau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Couches: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Liste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ordre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d'affichage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des couches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L'ordre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dans le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panneau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=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ordre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d'affichage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Règle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d'or: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Polygones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SOUS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lignes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SOUS points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Panneau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Explorateur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Navigation dans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fichiers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connexions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aux sources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Glisser-déposer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pour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ajouter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des couches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instantanément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Barres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d'outils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Navigation (zoom,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déplacement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): Z, X,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molette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souris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Sélection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par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clic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rectangle,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polygone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Édition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mode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édition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(crayon) pour modifier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Barre de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statut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Coordonnées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curseur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échelle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SCR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actif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213851"/>
            <a:ext cx="15425578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Installation et versions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399091"/>
            <a:ext cx="14324894" cy="569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Version LTR (Long Term Release):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Maintenue et corrigée pendant 1 an minimum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Recommandée pour les environnements professionnels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Stabilité garantie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Version courante: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Nouvelles fonctionnalités toutes les 4 mois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Plus susceptible de régressions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Pour utilisateurs avancés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Installation Windows: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Installeur standalone (recommandé)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088538" y="692325"/>
            <a:ext cx="5275969" cy="1007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745"/>
              </a:lnSpc>
            </a:pPr>
            <a:r>
              <a:rPr lang="en-US" sz="7753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Exercice 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1553" y="2698793"/>
            <a:ext cx="14324894" cy="4822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Prise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en main et exploration d'un jeu de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données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communal</a:t>
            </a:r>
          </a:p>
          <a:p>
            <a:pPr algn="just">
              <a:lnSpc>
                <a:spcPts val="3498"/>
              </a:lnSpc>
            </a:pPr>
            <a:endParaRPr lang="en-US" sz="2498" b="1" dirty="0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498"/>
              </a:lnSpc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Ouvrir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projet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QGIS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fourni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contenant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limites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communales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d'un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département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un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réseau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routier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couche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 points (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mairies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). Explorer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l'interface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et identifier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chaque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panneau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Ouvrir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projet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.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qgz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fourni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par le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formateur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Identifier les types de couches (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vecteur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/raster) dans le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panneau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Couches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Utiliser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 zoom et la navigation pour explorer le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territoire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Ouvrir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la table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d'attributs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 la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couche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communes et identifier les champs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Changer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l'ordre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des couches pour modifier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l'affichage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550841"/>
            <a:ext cx="15425578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Gestion des données et projections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707506"/>
            <a:ext cx="14324894" cy="740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38"/>
              </a:lnSpc>
            </a:pPr>
            <a:r>
              <a:rPr lang="en-US" sz="30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Formats de </a:t>
            </a:r>
            <a:r>
              <a:rPr lang="en-US" sz="30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fichiers</a:t>
            </a:r>
            <a:r>
              <a:rPr lang="en-US" sz="30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0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principaux</a:t>
            </a:r>
            <a:endParaRPr lang="en-US" sz="3098" b="1" dirty="0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4338"/>
              </a:lnSpc>
            </a:pPr>
            <a:endParaRPr lang="en-US" sz="3098" b="1" dirty="0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Shapefile (.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shp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Format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historique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très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répandu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Plusieurs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fichiers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obligatoires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.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shp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.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dbf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.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shx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.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prj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Limites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nom de champ 10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caractères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2 Go max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GeoPackage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(.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gpkg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Format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moderne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recommandé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seul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fichier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contenant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plusieurs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couches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vecteur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/raster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Pas de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limite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 nom de champ, pas de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limite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 taille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Services web:</a:t>
            </a:r>
          </a:p>
          <a:p>
            <a:pPr marL="409910" lvl="1" indent="-204955" algn="just">
              <a:lnSpc>
                <a:spcPts val="2658"/>
              </a:lnSpc>
              <a:buFont typeface="Arial"/>
              <a:buChar char="•"/>
            </a:pPr>
            <a:r>
              <a:rPr lang="en-US" sz="18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WMS: Images de carte (fond de plan IGN) https://data.geopf.fr/wmts?SERVICE=WMTS&amp;VERSION=1.0.0&amp;REQUEST=GetCapabilities</a:t>
            </a:r>
          </a:p>
          <a:p>
            <a:pPr marL="453089" lvl="1" indent="-226544" algn="just">
              <a:lnSpc>
                <a:spcPts val="2938"/>
              </a:lnSpc>
              <a:buFont typeface="Arial"/>
              <a:buChar char="•"/>
            </a:pPr>
            <a:r>
              <a:rPr lang="en-US" sz="20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WFS: </a:t>
            </a:r>
            <a:r>
              <a:rPr lang="en-US" sz="20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Données</a:t>
            </a:r>
            <a:r>
              <a:rPr lang="en-US" sz="20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téléchargeables</a:t>
            </a:r>
            <a:r>
              <a:rPr lang="en-US" sz="20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n-US" sz="20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interrogeables</a:t>
            </a:r>
            <a:r>
              <a:rPr lang="en-US" sz="20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https://data.geopf.fr/wfs/ows?VERSION=2.0.0</a:t>
            </a:r>
          </a:p>
          <a:p>
            <a:pPr marL="0" lvl="0" indent="0" algn="just">
              <a:lnSpc>
                <a:spcPts val="3498"/>
              </a:lnSpc>
            </a:pPr>
            <a:endParaRPr lang="en-US" sz="20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726729" y="943100"/>
            <a:ext cx="1916881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213851"/>
            <a:ext cx="15425578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Import de données CSV/TXT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399091"/>
            <a:ext cx="14324894" cy="52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Étapes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clés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Vérifier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séparateur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virgule, point-virgule, tabulation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Identifier les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colonnes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X/Y: longitude/Easting, latitude/Northing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Choisir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 SCR source: EPSG:3949(MANCHE)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EPSG:2154 (Lambert 93)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Gérer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l'encodage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UTF-8 (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moderne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) vs LATIN-1 (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ancien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Vérifier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géométrie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points bien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placés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sur la carte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Problèmes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courants: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Colonnes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X/Y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inversées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→ points en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mer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Mauvais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SCR →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décalage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important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Mauvais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encodage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caractères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bizarres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213851"/>
            <a:ext cx="15425578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Systèmes de coordonnées essentiels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399091"/>
            <a:ext cx="14324894" cy="745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Codes EPSG à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retenir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EPSG:2154 - Lambert 93 (projection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officielle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France)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Coordonnées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mètres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X: 100 000 à 1 300 000, Y: 6 000 000 à 7 200 000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EPSG:4326 - WGS84 (GPS)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Coordonnées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degrés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décimaux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Longitude: -1.09, Latitude: 49.11 (Saint-Lô)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EPSG:3857 - Web Mercator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Google Maps, OpenStreetMap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Ne PAS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calculer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distances/surfaces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EPSG:3949 - UTM Zone 31N</a:t>
            </a:r>
          </a:p>
          <a:p>
            <a:pPr marL="1078893" lvl="2" indent="-359631" algn="just">
              <a:lnSpc>
                <a:spcPts val="3498"/>
              </a:lnSpc>
              <a:buFont typeface="Arial"/>
              <a:buChar char="⚬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Projection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utilisée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pour la Manche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Reprojection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À la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volée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QGIS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aligne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automatiquement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visualisation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Permanente: Exporter dans nouveau SCR (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calculs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0" lvl="0" indent="0"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12541" y="692325"/>
            <a:ext cx="6651965" cy="100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742"/>
              </a:lnSpc>
            </a:pPr>
            <a:r>
              <a:rPr lang="en-US" sz="7749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Exercice 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1553" y="2917863"/>
            <a:ext cx="14324894" cy="4465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Import d'un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fichier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CSV de points de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suivi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de travaux</a:t>
            </a:r>
          </a:p>
          <a:p>
            <a:pPr algn="just">
              <a:lnSpc>
                <a:spcPts val="3498"/>
              </a:lnSpc>
            </a:pPr>
            <a:endParaRPr lang="en-US" sz="2498" b="1" dirty="0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498"/>
              </a:lnSpc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Importer un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fichier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texte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contenant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coordonnées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GPS des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compteurs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régie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vérifier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l'encodage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et le SCR,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puis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reprojeter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en 3949.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Ouvrir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 CSV dans excel pour identifier le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séparateur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l'encodage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Importer via Couche &gt; Ajouter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couche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texte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délimité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Vérifier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que les points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s'affichent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au bon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endroit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sur la carte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Exporter la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couche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GeoPackage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dans le SCR EPSG:3949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2499078"/>
            <a:ext cx="15425578" cy="56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Table d'attributs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33722" y="3285908"/>
            <a:ext cx="14324894" cy="613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Fonctionnalités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essentielles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Ouvrir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(F6):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Chaque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ligne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= un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objet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géographique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Sélection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par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formulaire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Filtrer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selon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critères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Tri et recherche: Trier par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colonne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rechercher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rapidement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Mode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édition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(crayon): Modifier,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ajouter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supprimer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attributs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Raccourcis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clés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F6: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Ouvrir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la table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Ctrl+E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Activer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mode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édition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Ctrl+S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Sauvegarder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modifications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Ctrl+clic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Sélection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multiple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Astuce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Cliquer sur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ligne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sélectionne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l'objet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sur la carte</a:t>
            </a:r>
          </a:p>
          <a:p>
            <a:pPr marL="0" lvl="0" indent="0"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3722" y="1646866"/>
            <a:ext cx="15425578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Manipulation et analyse de données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726729" y="943100"/>
            <a:ext cx="1916881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686270"/>
            <a:ext cx="15425578" cy="108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Calculateur de champs</a:t>
            </a:r>
          </a:p>
          <a:p>
            <a:pPr marL="0" lvl="0" indent="0" algn="l">
              <a:lnSpc>
                <a:spcPts val="4053"/>
              </a:lnSpc>
            </a:pPr>
            <a:endParaRPr lang="en-US" sz="37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454050"/>
            <a:ext cx="14324894" cy="6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8"/>
              </a:lnSpc>
            </a:pPr>
            <a:r>
              <a:rPr lang="en-US" sz="27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Créer</a:t>
            </a:r>
            <a:r>
              <a:rPr lang="en-US" sz="27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des champs </a:t>
            </a:r>
            <a:r>
              <a:rPr lang="en-US" sz="27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calculés</a:t>
            </a:r>
            <a:r>
              <a:rPr lang="en-US" sz="27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7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automatiquement</a:t>
            </a:r>
            <a:r>
              <a:rPr lang="en-US" sz="27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Expressions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géométriques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$area / 10000 → Surface en hectares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$length → Longueur en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mètres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$x, $y →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Coordonnées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du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centroïde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Expressions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texte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upper("nom") → Majuscules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concat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("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prénom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", ' ', "nom") →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Concaténation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left("code", 2) → Premiers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caractères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Expressions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conditionnelles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if("surface" &gt; 10000, 'Grande', 'Petite')</a:t>
            </a:r>
          </a:p>
          <a:p>
            <a:pPr algn="just">
              <a:lnSpc>
                <a:spcPts val="3498"/>
              </a:lnSpc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Sur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sélection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uniquement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Cocher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"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Mettre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à jour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uniquement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entités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sélectionnées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</a:p>
          <a:p>
            <a:pPr marL="0" lvl="0" indent="0"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686270"/>
            <a:ext cx="15425578" cy="56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Jointures attributaires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33722" y="2473100"/>
            <a:ext cx="14324894" cy="7013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Principe: </a:t>
            </a: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Relier une couche géo à un tableau via identifiant communExpressions géométriques: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Étapes</a:t>
            </a: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Vérifier le champ commun: Mêmes valeurs, même format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Configurer: Clic droit &gt; Propriétés &gt; Jointures &gt; "+"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Définir: Couche à joindre, champ source, champ cible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Valider: Vérifier les champs joints dans la table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Gestion des NULL: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NULL = aucune correspondance trouvée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Causes: espaces, caractères différents, types incompatibles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Solution: nettoyer les données avant jointure</a:t>
            </a:r>
          </a:p>
          <a:p>
            <a:pPr marL="0" lvl="0" indent="0" algn="just">
              <a:lnSpc>
                <a:spcPts val="3498"/>
              </a:lnSpc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Rendre permanente: Exporter la couche pour figer les champs joints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038225"/>
            <a:ext cx="15425578" cy="56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Géotraitements essentiels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33722" y="1825055"/>
            <a:ext cx="14324894" cy="745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Zone tampon (Buffer):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Crée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zone de X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mètres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autour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d'objets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Applications: servitude 35m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cours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d'eau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périmètre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protection 500m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Découpage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(Clip):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Extrait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partie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d'une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couche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dans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emprise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Applications: routes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d'une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commune,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parcelles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d'un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secteur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Intersection: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Combine deux couches avec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attributs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des deux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Applications: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parcelles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en zone de servitude avec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infos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propriétaires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Boîte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à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outils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(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Ctrl+Alt+T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Accès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à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tous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algorithmes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QGIS/GDAL/GRASS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Recherche par mot-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clé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Historique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outils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récents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62763" y="1200150"/>
            <a:ext cx="6651965" cy="100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742"/>
              </a:lnSpc>
            </a:pPr>
            <a:r>
              <a:rPr lang="en-US" sz="7749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Exercice 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1553" y="2698793"/>
            <a:ext cx="14324894" cy="52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Jointure et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calcul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: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superficie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des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parcelles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par propriétaire</a:t>
            </a:r>
          </a:p>
          <a:p>
            <a:pPr algn="just">
              <a:lnSpc>
                <a:spcPts val="3498"/>
              </a:lnSpc>
            </a:pPr>
            <a:endParaRPr lang="en-US" sz="2498" b="1" dirty="0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Joindre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un tableau Excel de propriétaires à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couche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parcellaire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calculer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superficie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en hectares et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sélectionner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parcelles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supérieures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à 5 ha.</a:t>
            </a:r>
          </a:p>
          <a:p>
            <a:pPr algn="just">
              <a:lnSpc>
                <a:spcPts val="3498"/>
              </a:lnSpc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Installer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l’extension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spreadsheet layers.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Configurer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la jointure dans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Parcelles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&gt; Jointures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Vérifier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champs joints dans la table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d'attributs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Ouvrir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calculateur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 champs,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créer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 champ "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superficie_ha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" avec $area / 10000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Filtrer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par expression pour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sélectionner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parcelles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&gt; 5 ha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Exporter la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sélection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en nouvelle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couche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2289879"/>
            <a:ext cx="15425578" cy="56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Représentation cartographique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33722" y="2923933"/>
            <a:ext cx="12610569" cy="6943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Symbole</a:t>
            </a:r>
            <a:r>
              <a:rPr lang="en-US" sz="2199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unique: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 style pour </a:t>
            </a: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tous</a:t>
            </a: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</a:t>
            </a: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objets</a:t>
            </a:r>
            <a:endParaRPr lang="en-US" sz="2199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Couleur, contour, </a:t>
            </a: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épaisseur</a:t>
            </a: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opacité</a:t>
            </a:r>
            <a:endParaRPr lang="en-US" sz="2199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79"/>
              </a:lnSpc>
            </a:pPr>
            <a:endParaRPr lang="en-US" sz="2199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079"/>
              </a:lnSpc>
            </a:pPr>
            <a:r>
              <a:rPr lang="en-US" sz="2199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Carte catégorisée: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Une couleur par </a:t>
            </a: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catégorie</a:t>
            </a:r>
            <a:endParaRPr lang="en-US" sz="2199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Champ: type </a:t>
            </a: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d'OCS</a:t>
            </a: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statut</a:t>
            </a: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propriétaire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Utiliser</a:t>
            </a: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palettes </a:t>
            </a: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ColorBrewer</a:t>
            </a: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qualitatives</a:t>
            </a:r>
            <a:endParaRPr lang="en-US" sz="2199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79"/>
              </a:lnSpc>
            </a:pPr>
            <a:endParaRPr lang="en-US" sz="2199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79"/>
              </a:lnSpc>
            </a:pPr>
            <a:r>
              <a:rPr lang="en-US" sz="2199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Carte </a:t>
            </a:r>
            <a:r>
              <a:rPr lang="en-US" sz="2199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graduée</a:t>
            </a:r>
            <a:r>
              <a:rPr lang="en-US" sz="2199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Dégradé</a:t>
            </a: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selon</a:t>
            </a: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valeur</a:t>
            </a: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numérique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Méthodes</a:t>
            </a: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Quantiles, Jenks (ruptures </a:t>
            </a: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naturelles</a:t>
            </a: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Maximum 5 classes pour lisibilité</a:t>
            </a:r>
          </a:p>
          <a:p>
            <a:pPr algn="just">
              <a:lnSpc>
                <a:spcPts val="3079"/>
              </a:lnSpc>
            </a:pPr>
            <a:endParaRPr lang="en-US" sz="2199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79"/>
              </a:lnSpc>
            </a:pPr>
            <a:r>
              <a:rPr lang="en-US" sz="2199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Visibilité</a:t>
            </a:r>
            <a:r>
              <a:rPr lang="en-US" sz="2199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par </a:t>
            </a:r>
            <a:r>
              <a:rPr lang="en-US" sz="2199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échelle</a:t>
            </a:r>
            <a:r>
              <a:rPr lang="en-US" sz="2199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Afficher</a:t>
            </a: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/masquer </a:t>
            </a: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selon</a:t>
            </a: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niveau</a:t>
            </a: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 zoom</a:t>
            </a:r>
          </a:p>
          <a:p>
            <a:pPr marL="474889" lvl="1" indent="-237444" algn="just">
              <a:lnSpc>
                <a:spcPts val="3079"/>
              </a:lnSpc>
              <a:buFont typeface="Arial"/>
              <a:buChar char="•"/>
            </a:pPr>
            <a:r>
              <a:rPr lang="en-US" sz="2199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Améliore</a:t>
            </a:r>
            <a:r>
              <a:rPr lang="en-US" sz="2199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performances et lisibilité</a:t>
            </a:r>
          </a:p>
          <a:p>
            <a:pPr marL="0" lvl="0" indent="0" algn="just">
              <a:lnSpc>
                <a:spcPts val="3079"/>
              </a:lnSpc>
            </a:pPr>
            <a:endParaRPr lang="en-US" sz="2199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3722" y="1437667"/>
            <a:ext cx="15425578" cy="718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Symbologie et analyse visuelle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726729" y="943100"/>
            <a:ext cx="1916881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038225"/>
            <a:ext cx="15425578" cy="108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Étiquetage efficace</a:t>
            </a:r>
          </a:p>
          <a:p>
            <a:pPr marL="0" lvl="0" indent="0" algn="l">
              <a:lnSpc>
                <a:spcPts val="4053"/>
              </a:lnSpc>
            </a:pPr>
            <a:endParaRPr lang="en-US" sz="37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1825055"/>
            <a:ext cx="14324894" cy="745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Activation et mise en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forme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Propriétés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&gt; Étiquettes &gt; Champ source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Police, taille, couleur du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texte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Halo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blanc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Contour pour lisibilité sur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tous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fonds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Placement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automatique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QGIS place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automatiquement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Gère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collisions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Expressions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d'étiquettes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concat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("NOM", '\n(', round("SURFACE_HA", 1), ' ha)')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if("STATUT" = 'En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cours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', upper("NOM"), "NOM")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Astuces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Visibilité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par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échelle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pour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éviter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surcharge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\n dans expressions =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saut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ligne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62763" y="1200150"/>
            <a:ext cx="6651965" cy="100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742"/>
              </a:lnSpc>
            </a:pPr>
            <a:r>
              <a:rPr lang="en-US" sz="7749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Exercice 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1553" y="2698793"/>
            <a:ext cx="14324894" cy="4465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Créer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une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carte catégorisée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d'une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couche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des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travaux_eau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2026 avec des étiquettes de communes, sur fond OpenStreetMap.</a:t>
            </a:r>
          </a:p>
          <a:p>
            <a:pPr algn="just">
              <a:lnSpc>
                <a:spcPts val="3498"/>
              </a:lnSpc>
            </a:pPr>
            <a:endParaRPr lang="en-US" sz="2498" b="1" dirty="0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Ajouter un fond OSM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Paramétrer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symbologie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catégorisée sur le champ "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eu_ep_aep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Appliquer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rampe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 couleurs et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ajuster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l'opacité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polygones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Activer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étiquettes communes avec tampon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blanc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pour la lisibilité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2499078"/>
            <a:ext cx="15425578" cy="108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Composeur d'impression</a:t>
            </a:r>
          </a:p>
          <a:p>
            <a:pPr marL="0" lvl="0" indent="0" algn="l">
              <a:lnSpc>
                <a:spcPts val="4053"/>
              </a:lnSpc>
            </a:pPr>
            <a:endParaRPr lang="en-US" sz="3788" b="1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3285908"/>
            <a:ext cx="14324894" cy="657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Création (Ctrl+P):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Espace de composition indépendant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Format A4/A3, orientation, résolution (300 DPI impression)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Élément Carte: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Emprise, échelle, grille de coordonnées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Échelles normalisées: 1:5000, 1:10000, 1:25000</a:t>
            </a:r>
          </a:p>
          <a:p>
            <a:pPr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Règles TOLE (obligatoires):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Titre: Descriptif, daté si nécessaire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Orientation: Flèche Nord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Légende: Symboles expliqués, unités précisées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Échelle: Barre graphique (reste correcte si photocopiée)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Source: Auteur, organisme, date données, projection</a:t>
            </a:r>
          </a:p>
          <a:p>
            <a:pPr marL="0" lvl="0" indent="0" algn="just">
              <a:lnSpc>
                <a:spcPts val="3498"/>
              </a:lnSpc>
            </a:pPr>
            <a:endParaRPr lang="en-US" sz="2498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3722" y="1646866"/>
            <a:ext cx="15425578" cy="718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 dirty="0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Mise en page et </a:t>
            </a:r>
            <a:r>
              <a:rPr lang="en-US" sz="4888" b="1" dirty="0" err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création</a:t>
            </a:r>
            <a:r>
              <a:rPr lang="en-US" sz="4888" b="1" dirty="0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4888" b="1" dirty="0" err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d'atlas</a:t>
            </a:r>
            <a:endParaRPr lang="en-US" sz="4888" b="1" dirty="0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726729" y="943100"/>
            <a:ext cx="1916881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038225"/>
            <a:ext cx="15425578" cy="56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Atlas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33722" y="1825055"/>
            <a:ext cx="14324894" cy="657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Principe: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Générer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automatiquement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N fiches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cartographiques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depuis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couche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de couverture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Configuration: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Activer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Atlas: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Panneau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Atlas &gt;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Générer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un atlas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Couche de couverture: Communes,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parcelles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secteurs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Nom de page: Champ pour le nom de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chaque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fiche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Paramètres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zoom: Marge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autour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entité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échelle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fixe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Variables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dynamiques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[% @atlas_pagename %] → Nom de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l'entité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courante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[% "NOM_COMMUNE" %] → Valeur d'un champ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[%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concat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("Fiche N°", @atlas_featurenumber, "/", @atlas_totalfeatures) %]</a:t>
            </a:r>
          </a:p>
          <a:p>
            <a:pPr algn="just">
              <a:lnSpc>
                <a:spcPts val="3498"/>
              </a:lnSpc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Légende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dynamique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"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Uniquement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entités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dans la carte"</a:t>
            </a:r>
          </a:p>
          <a:p>
            <a:pPr marL="0" lvl="0" indent="0"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7304" y="754444"/>
            <a:ext cx="15425578" cy="108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Export et partage</a:t>
            </a:r>
          </a:p>
          <a:p>
            <a:pPr marL="0" lvl="0" indent="0" algn="l">
              <a:lnSpc>
                <a:spcPts val="4053"/>
              </a:lnSpc>
            </a:pPr>
            <a:endParaRPr lang="en-US" sz="37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27304" y="1541274"/>
            <a:ext cx="14324894" cy="8327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Export PDF: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Haute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résolution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(300 DPI)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Format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officiel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pour rapports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administratifs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Compression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activée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pour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réduire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taille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Export image (PNG/JPEG):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PNG: Sans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perte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pour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cartes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avec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textes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JPEG: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Compressé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pour e-mails et documents Word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Résolution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: 150 DPI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écran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, 300 DPI impression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Export SVG: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Format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vectoriel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pour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édition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graphique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Compatible Inkscape/Illustrator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Partage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projet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qgz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+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données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liées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dans archive ZIP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GeoPackage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unique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contenant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toutes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couches</a:t>
            </a:r>
          </a:p>
          <a:p>
            <a:pPr marL="539447" lvl="1" indent="-269723" algn="just">
              <a:lnSpc>
                <a:spcPts val="3498"/>
              </a:lnSpc>
              <a:buFont typeface="Arial"/>
              <a:buChar char="•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Chemins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relatifs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activés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pour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portabilité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62763" y="1200150"/>
            <a:ext cx="6651965" cy="100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742"/>
              </a:lnSpc>
            </a:pPr>
            <a:r>
              <a:rPr lang="en-US" sz="7749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Exercice 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1553" y="2460406"/>
            <a:ext cx="14324894" cy="4914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Produire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un atlas de N fiches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cartographiques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(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une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par commune)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affichant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les travaux en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cours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, les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réseaux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d'eau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et les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parcelles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concernées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, avec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titre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dynamique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 et </a:t>
            </a:r>
            <a:r>
              <a:rPr lang="en-US" sz="2498" b="1" dirty="0" err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légende</a:t>
            </a:r>
            <a:r>
              <a:rPr lang="en-US" sz="2498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.</a:t>
            </a:r>
          </a:p>
          <a:p>
            <a:pPr algn="just">
              <a:lnSpc>
                <a:spcPts val="3498"/>
              </a:lnSpc>
            </a:pPr>
            <a:endParaRPr lang="en-US" sz="2498" b="1" dirty="0">
              <a:solidFill>
                <a:srgbClr val="1D4ABD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Créer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mise en page avec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tous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éléments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TOLE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Configurer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l'atlas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sur la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couche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communes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Paramétrer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titre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dynamique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avec la variable @atlas_pagename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Prévisualiser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fiches et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corriger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les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débordements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d'étiquettes</a:t>
            </a: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Exporter </a:t>
            </a:r>
            <a:r>
              <a:rPr lang="en-US" sz="2498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l'atlas</a:t>
            </a:r>
            <a:r>
              <a:rPr lang="en-US" sz="2498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en PDF multi-pages</a:t>
            </a:r>
          </a:p>
          <a:p>
            <a:pPr algn="just">
              <a:lnSpc>
                <a:spcPts val="3498"/>
              </a:lnSpc>
            </a:pPr>
            <a:endParaRPr lang="en-US" sz="2498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98"/>
              </a:lnSpc>
            </a:pPr>
            <a:endParaRPr lang="en-US" sz="2498" b="1" u="sng" dirty="0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  <a:hlinkClick r:id="rId2" tooltip="https://notebooklm.google.com/notebook/bec135f1-ad71-480d-95cf-ede7012a7cfe/artifact/68f3882c-8294-4115-b71d-f2c17b4d9d46?utm_source=nlm_web_share&amp;utm_medium=google_oo&amp;utm_campaign=art_share_2&amp;utm_content=&amp;utm_smc=nlm_web_share_google_oo_art_share_2_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550841"/>
            <a:ext cx="15425578" cy="137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30"/>
              </a:lnSpc>
            </a:pPr>
            <a:r>
              <a:rPr lang="en-US" sz="48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Exploiter le relief : BD ALTI et LiDAR</a:t>
            </a:r>
          </a:p>
          <a:p>
            <a:pPr marL="0" lvl="0" indent="0" algn="l">
              <a:lnSpc>
                <a:spcPts val="5230"/>
              </a:lnSpc>
            </a:pPr>
            <a:endParaRPr lang="en-US" sz="48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707506"/>
            <a:ext cx="14324894" cy="740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00"/>
              </a:lnSpc>
            </a:pPr>
            <a:r>
              <a:rPr lang="en-US" sz="27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Exploiter la BD ALTI® (1m – 5m)</a:t>
            </a:r>
          </a:p>
          <a:p>
            <a:pPr marL="0" lvl="0" indent="0" algn="just">
              <a:lnSpc>
                <a:spcPts val="1600"/>
              </a:lnSpc>
            </a:pPr>
            <a:endParaRPr lang="en-US" sz="8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100"/>
              </a:lnSpc>
            </a:pPr>
            <a:r>
              <a:rPr lang="en-US" sz="1500" b="1" dirty="0">
                <a:solidFill>
                  <a:srgbClr val="1E7A34"/>
                </a:solidFill>
                <a:latin typeface="Poppins Bold"/>
                <a:ea typeface="Poppins Bold"/>
                <a:cs typeface="Poppins Bold"/>
                <a:sym typeface="Poppins Bold"/>
              </a:rPr>
              <a:t>EXTRACTION</a:t>
            </a:r>
          </a:p>
          <a:p>
            <a:pPr marL="0" lvl="0" indent="0" algn="just">
              <a:lnSpc>
                <a:spcPts val="2700"/>
              </a:lnSpc>
            </a:pPr>
            <a:r>
              <a:rPr lang="en-US" sz="21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Création de Courbes de Niveau</a:t>
            </a:r>
          </a:p>
          <a:p>
            <a:pPr marL="453089" lvl="1" indent="-226544" algn="just">
              <a:lnSpc>
                <a:spcPts val="2300"/>
              </a:lnSpc>
              <a:buFont typeface="Arial"/>
              <a:buChar char="•"/>
            </a:pPr>
            <a:r>
              <a:rPr lang="en-US" sz="175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Générer des isolignes d'altitude à partir d'un raster MNT.</a:t>
            </a:r>
          </a:p>
          <a:p>
            <a:pPr marL="0" lvl="0" indent="0" algn="just">
              <a:lnSpc>
                <a:spcPts val="1600"/>
              </a:lnSpc>
            </a:pPr>
            <a:endParaRPr lang="en-US" sz="6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100"/>
              </a:lnSpc>
            </a:pPr>
            <a:r>
              <a:rPr lang="en-US" sz="1500" b="1" dirty="0">
                <a:solidFill>
                  <a:srgbClr val="1E7A34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VISUALISATION 3D</a:t>
            </a:r>
          </a:p>
          <a:p>
            <a:pPr marL="0" lvl="0" indent="0" algn="just">
              <a:lnSpc>
                <a:spcPts val="2700"/>
              </a:lnSpc>
            </a:pPr>
            <a:r>
              <a:rPr lang="en-US" sz="21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Création d'un Ombrage (Hillshade)</a:t>
            </a:r>
          </a:p>
          <a:p>
            <a:pPr marL="453089" lvl="1" indent="-226544" algn="just">
              <a:lnSpc>
                <a:spcPts val="2300"/>
              </a:lnSpc>
              <a:buFont typeface="Arial"/>
              <a:buChar char="•"/>
            </a:pPr>
            <a:r>
              <a:rPr lang="en-US" sz="175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Simuler l'éclairage du soleil pour donner un effet de relief.</a:t>
            </a:r>
          </a:p>
          <a:p>
            <a:pPr marL="0" lvl="0" indent="0" algn="just">
              <a:lnSpc>
                <a:spcPts val="1600"/>
              </a:lnSpc>
            </a:pPr>
            <a:endParaRPr lang="en-US" sz="6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100"/>
              </a:lnSpc>
            </a:pPr>
            <a:r>
              <a:rPr lang="en-US" sz="1500" b="1" dirty="0">
                <a:solidFill>
                  <a:srgbClr val="1E7A34"/>
                </a:solidFill>
                <a:latin typeface="Poppins Bold"/>
                <a:ea typeface="Poppins Bold"/>
                <a:cs typeface="Poppins Bold"/>
                <a:sym typeface="Poppins Bold"/>
              </a:rPr>
              <a:t>HYDROLOGIE</a:t>
            </a:r>
          </a:p>
          <a:p>
            <a:pPr marL="0" lvl="0" indent="0" algn="just">
              <a:lnSpc>
                <a:spcPts val="2700"/>
              </a:lnSpc>
            </a:pPr>
            <a:r>
              <a:rPr lang="en-US" sz="21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Extraction de Bassin Versant</a:t>
            </a:r>
          </a:p>
          <a:p>
            <a:pPr marL="453089" lvl="1" indent="-226544" algn="just">
              <a:lnSpc>
                <a:spcPts val="2300"/>
              </a:lnSpc>
              <a:buFont typeface="Arial"/>
              <a:buChar char="•"/>
            </a:pPr>
            <a:r>
              <a:rPr lang="en-US" sz="175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Modéliser l'écoulement de l'eau à partir d'un MNT.</a:t>
            </a:r>
          </a:p>
          <a:p>
            <a:pPr marL="0" lvl="0" indent="0" algn="just">
              <a:lnSpc>
                <a:spcPts val="1600"/>
              </a:lnSpc>
            </a:pPr>
            <a:endParaRPr lang="en-US" sz="6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3400"/>
              </a:lnSpc>
            </a:pPr>
            <a:r>
              <a:rPr lang="en-US" sz="27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Exploiter le LiDAR HD (20cm)</a:t>
            </a:r>
          </a:p>
          <a:p>
            <a:pPr marL="0" lvl="0" indent="0" algn="just">
              <a:lnSpc>
                <a:spcPts val="1600"/>
              </a:lnSpc>
            </a:pPr>
            <a:endParaRPr lang="en-US" sz="8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100"/>
              </a:lnSpc>
            </a:pPr>
            <a:r>
              <a:rPr lang="en-US" sz="1500" b="1" dirty="0">
                <a:solidFill>
                  <a:srgbClr val="1E7A34"/>
                </a:solidFill>
                <a:latin typeface="Poppins Bold"/>
                <a:ea typeface="Poppins Bold"/>
                <a:cs typeface="Poppins Bold"/>
                <a:sym typeface="Poppins Bold"/>
              </a:rPr>
              <a:t>NUAGES DE POINTS</a:t>
            </a:r>
          </a:p>
          <a:p>
            <a:pPr marL="0" lvl="0" indent="0" algn="just">
              <a:lnSpc>
                <a:spcPts val="2700"/>
              </a:lnSpc>
            </a:pPr>
            <a:r>
              <a:rPr lang="en-US" sz="21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Prise en main des fichiers LAS/LAZ</a:t>
            </a:r>
          </a:p>
          <a:p>
            <a:pPr marL="453089" lvl="1" indent="-226544" algn="just">
              <a:lnSpc>
                <a:spcPts val="2300"/>
              </a:lnSpc>
              <a:buFont typeface="Arial"/>
              <a:buChar char="•"/>
            </a:pPr>
            <a:r>
              <a:rPr lang="en-US" sz="175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Charger et visualiser des données LiDAR classifiées.</a:t>
            </a:r>
          </a:p>
          <a:p>
            <a:pPr marL="0" lvl="0" indent="0" algn="just">
              <a:lnSpc>
                <a:spcPts val="1600"/>
              </a:lnSpc>
            </a:pPr>
            <a:endParaRPr lang="en-US" sz="6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100"/>
              </a:lnSpc>
            </a:pPr>
            <a:r>
              <a:rPr lang="en-US" sz="1500" b="1" dirty="0">
                <a:solidFill>
                  <a:srgbClr val="1E7A34"/>
                </a:solidFill>
                <a:latin typeface="Poppins Bold"/>
                <a:ea typeface="Poppins Bold"/>
                <a:cs typeface="Poppins Bold"/>
                <a:sym typeface="Poppins Bold"/>
              </a:rPr>
              <a:t>CONVERSION</a:t>
            </a:r>
          </a:p>
          <a:p>
            <a:pPr marL="0" lvl="0" indent="0" algn="just">
              <a:lnSpc>
                <a:spcPts val="2700"/>
              </a:lnSpc>
            </a:pPr>
            <a:r>
              <a:rPr lang="en-US" sz="21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De Nuage de points à Raster (MNT/MNS)</a:t>
            </a:r>
          </a:p>
          <a:p>
            <a:pPr marL="453089" lvl="1" indent="-226544" algn="just">
              <a:lnSpc>
                <a:spcPts val="2300"/>
              </a:lnSpc>
              <a:buFont typeface="Arial"/>
              <a:buChar char="•"/>
            </a:pPr>
            <a:r>
              <a:rPr lang="en-US" sz="175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Filtrer les classes pour générer un terrain ou une surface.</a:t>
            </a:r>
          </a:p>
          <a:p>
            <a:pPr marL="0" lvl="0" indent="0" algn="just">
              <a:lnSpc>
                <a:spcPts val="1600"/>
              </a:lnSpc>
            </a:pPr>
            <a:endParaRPr lang="en-US" sz="6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726729" y="943100"/>
            <a:ext cx="1916881" cy="4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  <a:spcBef>
                <a:spcPct val="0"/>
              </a:spcBef>
            </a:pPr>
            <a:r>
              <a:rPr lang="en-US" sz="2249" b="1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686270"/>
            <a:ext cx="15425578" cy="108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Création de Courbes de Niveau</a:t>
            </a:r>
          </a:p>
          <a:p>
            <a:pPr marL="0" lvl="0" indent="0" algn="l">
              <a:lnSpc>
                <a:spcPts val="4053"/>
              </a:lnSpc>
            </a:pPr>
            <a:endParaRPr lang="en-US" sz="37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454050"/>
            <a:ext cx="14324894" cy="6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Principe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Isoligne reliant les points de même altitude, calculée à partir d'un raster MNT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Équidistance à choisir selon l'usage : 1m pour la précision, 5m pour une vue d'ensemble</a:t>
            </a:r>
          </a:p>
          <a:p>
            <a:pPr marL="0" lvl="0" indent="0" algn="just">
              <a:lnSpc>
                <a:spcPts val="1600"/>
              </a:lnSpc>
            </a:pPr>
            <a:endParaRPr lang="en-US" sz="7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Extraction (Traitement &gt; Extraction de contours)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Charger le MNT (raster) dans QGIS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Ouvrir la boîte à outils (Ctrl+Alt+T), rechercher « Contours »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Choisir la bande et définir l'intervalle entre courbes (ex : 1m)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Exporter le résultat en couche vectorielle ligne</a:t>
            </a:r>
          </a:p>
          <a:p>
            <a:pPr marL="0" lvl="0" indent="0" algn="just">
              <a:lnSpc>
                <a:spcPts val="1600"/>
              </a:lnSpc>
            </a:pPr>
            <a:endParaRPr lang="en-US" sz="7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Habillage cartographique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Champ ELEV : valeur d'altitude portée par chaque courbe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Étiqueter uniquement les courbes maîtresses (multiples de 5 ou 10) pour la lisibilité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Lissage : Vecteur &gt; Géométrie &gt; Lisser, pour un rendu plus naturel</a:t>
            </a:r>
          </a:p>
          <a:p>
            <a:pPr marL="0" lvl="0" indent="0" algn="just">
              <a:lnSpc>
                <a:spcPts val="1600"/>
              </a:lnSpc>
            </a:pPr>
            <a:endParaRPr lang="en-US" sz="7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500"/>
              </a:lnSpc>
            </a:pPr>
            <a:r>
              <a:rPr lang="en-US" sz="1900" b="1" dirty="0">
                <a:solidFill>
                  <a:srgbClr val="1E7A34"/>
                </a:solidFill>
                <a:latin typeface="Poppins Bold"/>
                <a:ea typeface="Poppins Bold"/>
                <a:cs typeface="Poppins Bold"/>
                <a:sym typeface="Poppins Bold"/>
              </a:rPr>
              <a:t>Astuce : une équidistance trop faible sur un MNT bruité génère des courbes surchargées et illisibles.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686270"/>
            <a:ext cx="15425578" cy="108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Création d'un Ombrage (Hillshade)</a:t>
            </a:r>
          </a:p>
          <a:p>
            <a:pPr marL="0" lvl="0" indent="0" algn="l">
              <a:lnSpc>
                <a:spcPts val="4053"/>
              </a:lnSpc>
            </a:pPr>
            <a:endParaRPr lang="en-US" sz="37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454050"/>
            <a:ext cx="14324894" cy="6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Principe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Simule l'éclairage du relief par une source lumineuse virtuelle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Fait ressortir les formes du terrain : crêtes, vallées, ruptures de pente</a:t>
            </a:r>
          </a:p>
          <a:p>
            <a:pPr marL="0" lvl="0" indent="0" algn="just">
              <a:lnSpc>
                <a:spcPts val="1600"/>
              </a:lnSpc>
            </a:pPr>
            <a:endParaRPr lang="en-US" sz="70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Génération (Raster &gt; Analyse &gt; Ombrage)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Charger le MNT dans QGIS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Raster &gt; Analyse &gt; Ombrage (ou l'algorithme gdaldem hillshade)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Azimut de la lumière : 315° (Nord-Ouest, valeur standard)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Angle de la lumière : 45° (hauteur du soleil)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Facteur Z : exagération verticale, à augmenter si le relief est plat</a:t>
            </a:r>
          </a:p>
          <a:p>
            <a:pPr marL="0" lvl="0" indent="0" algn="just">
              <a:lnSpc>
                <a:spcPts val="1600"/>
              </a:lnSpc>
            </a:pPr>
            <a:endParaRPr lang="en-US" sz="70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Habillage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Superposer une couche colorée avec le mode de fusion « Multiplier »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Régler l'opacité de l'ombrage pour ne pas écraser les couleurs</a:t>
            </a:r>
          </a:p>
          <a:p>
            <a:pPr marL="0" lvl="0" indent="0" algn="just">
              <a:lnSpc>
                <a:spcPts val="1600"/>
              </a:lnSpc>
            </a:pPr>
            <a:endParaRPr lang="en-US" sz="70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500"/>
              </a:lnSpc>
            </a:pPr>
            <a:r>
              <a:rPr lang="en-US" sz="1900" b="1" dirty="0">
                <a:solidFill>
                  <a:srgbClr val="1E7A34"/>
                </a:solidFill>
                <a:latin typeface="Poppins Bold"/>
                <a:ea typeface="Poppins Bold"/>
                <a:cs typeface="Poppins Bold"/>
                <a:sym typeface="Poppins Bold"/>
              </a:rPr>
              <a:t>Astuce : un ombrage multidirectionnel évite les artefacts liés à un éclairage unique.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686270"/>
            <a:ext cx="15425578" cy="108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Extraction de Bassin Versant</a:t>
            </a:r>
          </a:p>
          <a:p>
            <a:pPr marL="0" lvl="0" indent="0" algn="l">
              <a:lnSpc>
                <a:spcPts val="4053"/>
              </a:lnSpc>
            </a:pPr>
            <a:endParaRPr lang="en-US" sz="37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454050"/>
            <a:ext cx="14324894" cy="6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Principe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Modélise l'écoulement de l'eau à partir de la topographie du MNT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Bassin versant : surface qui draine l'eau vers un même point exutoire</a:t>
            </a:r>
          </a:p>
          <a:p>
            <a:pPr marL="0" lvl="0" indent="0" algn="just">
              <a:lnSpc>
                <a:spcPts val="1600"/>
              </a:lnSpc>
            </a:pPr>
            <a:endParaRPr lang="en-US" sz="7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Étapes (boîte à outils GRASS / SAGA)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Remplir les dépressions du MNT (Fill Sinks / r.fill.dir)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Calculer la direction d'écoulement (Flow Direction)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Calculer l'accumulation de flux (Flow Accumulation)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Définir le point exutoire (ex : station de mesure, avaloir)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Délimiter le bassin versant (Watershed basins)</a:t>
            </a:r>
          </a:p>
          <a:p>
            <a:pPr marL="0" lvl="0" indent="0" algn="just">
              <a:lnSpc>
                <a:spcPts val="1600"/>
              </a:lnSpc>
            </a:pPr>
            <a:endParaRPr lang="en-US" sz="7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Applications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Bassin versant amont d'un point de captage d'eau potable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Zone de collecte pour le dimensionnement d'un réseau pluvial</a:t>
            </a:r>
          </a:p>
          <a:p>
            <a:pPr marL="0" lvl="0" indent="0" algn="just">
              <a:lnSpc>
                <a:spcPts val="1600"/>
              </a:lnSpc>
            </a:pPr>
            <a:endParaRPr lang="en-US" sz="7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500"/>
              </a:lnSpc>
            </a:pPr>
            <a:r>
              <a:rPr lang="en-US" sz="1900" b="1" dirty="0">
                <a:solidFill>
                  <a:srgbClr val="1E7A34"/>
                </a:solidFill>
                <a:latin typeface="Poppins Bold"/>
                <a:ea typeface="Poppins Bold"/>
                <a:cs typeface="Poppins Bold"/>
                <a:sym typeface="Poppins Bold"/>
              </a:rPr>
              <a:t>Astuce : la BD ALTI (5m) suffit souvent ; le LiDAR HD affine les résultats en zone urbaine.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686270"/>
            <a:ext cx="15425578" cy="108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 dirty="0" err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Prise</a:t>
            </a:r>
            <a:r>
              <a:rPr lang="en-US" sz="3788" b="1" dirty="0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 en main des </a:t>
            </a:r>
            <a:r>
              <a:rPr lang="en-US" sz="3788" b="1" dirty="0" err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fichiers</a:t>
            </a:r>
            <a:r>
              <a:rPr lang="en-US" sz="3788" b="1" dirty="0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 LAS/LAZ</a:t>
            </a:r>
          </a:p>
          <a:p>
            <a:pPr marL="0" lvl="0" indent="0" algn="l">
              <a:lnSpc>
                <a:spcPts val="4053"/>
              </a:lnSpc>
            </a:pPr>
            <a:endParaRPr lang="en-US" sz="3788" b="1" dirty="0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454050"/>
            <a:ext cx="14324894" cy="6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Format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Nuage de points 3D classifié : coordonnées X, Y, Z + attributs par point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LAS : format standard non compressé ; LAZ : version compressée, environ 10x plus léger</a:t>
            </a:r>
          </a:p>
          <a:p>
            <a:pPr marL="0" lvl="0" indent="0" algn="just">
              <a:lnSpc>
                <a:spcPts val="1600"/>
              </a:lnSpc>
            </a:pPr>
            <a:endParaRPr lang="en-US" sz="7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Classification (codes ASPRS courants)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2 : Sol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3 à 5 : Végétation (basse, moyenne, haute)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6 : Bâtiment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9 : Eau</a:t>
            </a:r>
          </a:p>
          <a:p>
            <a:pPr marL="0" lvl="0" indent="0" algn="just">
              <a:lnSpc>
                <a:spcPts val="1600"/>
              </a:lnSpc>
            </a:pPr>
            <a:endParaRPr lang="en-US" sz="7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Chargement dans QGIS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Couche &gt; Ajouter une couche &gt; Nuage de points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QGIS génère un index (.lax ou copc.laz) au premier affichage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Panneau Symbologie : styliser par Classification, Élévation ou Intensité</a:t>
            </a:r>
          </a:p>
          <a:p>
            <a:pPr marL="0" lvl="0" indent="0" algn="just">
              <a:lnSpc>
                <a:spcPts val="1600"/>
              </a:lnSpc>
            </a:pPr>
            <a:endParaRPr lang="en-US" sz="7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500"/>
              </a:lnSpc>
            </a:pPr>
            <a:r>
              <a:rPr lang="en-US" sz="1900" b="1" dirty="0">
                <a:solidFill>
                  <a:srgbClr val="1E7A34"/>
                </a:solidFill>
                <a:latin typeface="Poppins Bold"/>
                <a:ea typeface="Poppins Bold"/>
                <a:cs typeface="Poppins Bold"/>
                <a:sym typeface="Poppins Bold"/>
              </a:rPr>
              <a:t>Astuce : privilégier le format COPC (Cloud Optimized Point Cloud) pour de meilleures performances sur de gros volumes.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33722" y="1686270"/>
            <a:ext cx="15425578" cy="108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3"/>
              </a:lnSpc>
            </a:pPr>
            <a:r>
              <a:rPr lang="en-US" sz="3788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De Nuage de points à Raster (MNT/MNS)</a:t>
            </a:r>
          </a:p>
          <a:p>
            <a:pPr marL="0" lvl="0" indent="0" algn="l">
              <a:lnSpc>
                <a:spcPts val="4053"/>
              </a:lnSpc>
            </a:pPr>
            <a:endParaRPr lang="en-US" sz="3788" b="1">
              <a:gradFill>
                <a:gsLst>
                  <a:gs pos="0">
                    <a:srgbClr val="226214">
                      <a:alpha val="100000"/>
                    </a:srgbClr>
                  </a:gs>
                  <a:gs pos="100000">
                    <a:srgbClr val="43CC25">
                      <a:alpha val="100000"/>
                    </a:srgbClr>
                  </a:gs>
                </a:gsLst>
                <a:lin ang="5400000"/>
              </a:gra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33722" y="2454050"/>
            <a:ext cx="14324894" cy="6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Principe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MNT (Modèle Numérique de Terrain) : altitude du sol seul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MNS (Modèle Numérique de Surface) : altitude du sol + bâti + végétation</a:t>
            </a:r>
          </a:p>
          <a:p>
            <a:pPr marL="0" lvl="0" indent="0" algn="just">
              <a:lnSpc>
                <a:spcPts val="1600"/>
              </a:lnSpc>
            </a:pPr>
            <a:endParaRPr lang="en-US" sz="7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Conversion (Traitement &gt; Nuage de points &gt; Rasteriser)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Pour un MNT : filtrer la classe 2 (sol) avant rasterisation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Pour un MNS : conserver tous les points, agrégation par altitude maximale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Définir la résolution de sortie (ex : 20cm pour du LiDAR HD)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AutoNum type="arabicPeriod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Choisir la méthode d'agrégation : minimum, maximum, moyenne, densité</a:t>
            </a:r>
          </a:p>
          <a:p>
            <a:pPr marL="0" lvl="0" indent="0" algn="just">
              <a:lnSpc>
                <a:spcPts val="1600"/>
              </a:lnSpc>
            </a:pPr>
            <a:endParaRPr lang="en-US" sz="7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00"/>
              </a:lnSpc>
            </a:pPr>
            <a:r>
              <a:rPr lang="en-US" sz="22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Export</a:t>
            </a:r>
          </a:p>
          <a:p>
            <a:pPr marL="539447" lvl="1" indent="-269723" algn="just">
              <a:lnSpc>
                <a:spcPts val="2500"/>
              </a:lnSpc>
              <a:buFont typeface="Arial"/>
              <a:buChar char="•"/>
            </a:pPr>
            <a:r>
              <a:rPr lang="en-US" sz="1900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Enregistrer en GeoTIFF pour réutilisation (courbes de niveau, ombrage...)</a:t>
            </a:r>
          </a:p>
          <a:p>
            <a:pPr marL="0" lvl="0" indent="0" algn="just">
              <a:lnSpc>
                <a:spcPts val="1600"/>
              </a:lnSpc>
            </a:pPr>
            <a:endParaRPr lang="en-US" sz="7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500"/>
              </a:lnSpc>
            </a:pPr>
            <a:r>
              <a:rPr lang="en-US" sz="1900" b="1" dirty="0">
                <a:solidFill>
                  <a:srgbClr val="1E7A34"/>
                </a:solidFill>
                <a:latin typeface="Poppins Bold"/>
                <a:ea typeface="Poppins Bold"/>
                <a:cs typeface="Poppins Bold"/>
                <a:sym typeface="Poppins Bold"/>
              </a:rPr>
              <a:t>Astuce : un calcul MNS moins MNT (calculateur raster) donne la hauteur de la végétation et du bâti.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62763" y="1200150"/>
            <a:ext cx="6651965" cy="100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742"/>
              </a:lnSpc>
            </a:pPr>
            <a:r>
              <a:rPr lang="en-US" sz="7749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Exercice 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81553" y="2095500"/>
            <a:ext cx="14324894" cy="8487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400" b="1" dirty="0">
                <a:solidFill>
                  <a:srgbClr val="1D4ABD"/>
                </a:solidFill>
                <a:latin typeface="Poppins Bold"/>
                <a:ea typeface="Poppins Bold"/>
                <a:cs typeface="Poppins Bold"/>
                <a:sym typeface="Poppins Bold"/>
              </a:rPr>
              <a:t>Projet de synthèse : de la donnée brute à l'atlas cartographique</a:t>
            </a:r>
          </a:p>
          <a:p>
            <a:pPr marL="0" lvl="0" indent="0" algn="just">
              <a:lnSpc>
                <a:spcPts val="3498"/>
              </a:lnSpc>
            </a:pPr>
            <a:endParaRPr lang="en-US" sz="20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Mobiliser l'ensemble des compétences de la formation. Import et gestion de données, relief (BD ALTI / LiDAR), analyse spatiale, symbologie et mise en page pour produire un atlas complet sur un secteur communal.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Importer les couches communes et travaux_eau 2026 fournies, vérifier le SCR (EPSG:3949)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Ajouter les routes 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Charger le MNT (BD ALTI) du secteur et générer un ombrage (hillshade) en fond de carte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Extraire les courbes de niveau tous les 5m et les intégrer à la composition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Joindre le tableau des propriétaires à la couche parcellaire et calculer la superficie en hectares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Symboliser les travaux en cours par une carte catégorisée, avec étiquetage des communes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Créer une mise en page A3 avec les éléments TOLE et générer un atlas (une fiche par commune) en </a:t>
            </a:r>
            <a:r>
              <a:rPr lang="en-US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utilisant</a:t>
            </a:r>
            <a:r>
              <a:rPr lang="en-US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 le model .QPT </a:t>
            </a:r>
            <a:r>
              <a:rPr lang="en-US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existant</a:t>
            </a:r>
            <a:r>
              <a:rPr lang="en-US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539447" lvl="1" indent="-269723" algn="just">
              <a:lnSpc>
                <a:spcPts val="3498"/>
              </a:lnSpc>
              <a:buAutoNum type="arabicPeriod"/>
            </a:pPr>
            <a:r>
              <a:rPr lang="en-US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Exporter l'atlas final en PDF multi-pages</a:t>
            </a:r>
          </a:p>
          <a:p>
            <a:pPr marL="269724" lvl="1" algn="just">
              <a:lnSpc>
                <a:spcPts val="3498"/>
              </a:lnSpc>
            </a:pPr>
            <a:endParaRPr lang="en-US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dirty="0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Comparer le rendu de la carte avec et sans ombrage LiDAR HD sur une zone </a:t>
            </a:r>
            <a:r>
              <a:rPr lang="en-US" dirty="0" err="1">
                <a:solidFill>
                  <a:srgbClr val="1D4ABD"/>
                </a:solidFill>
                <a:latin typeface="Poppins"/>
                <a:ea typeface="Poppins"/>
                <a:cs typeface="Poppins"/>
                <a:sym typeface="Poppins"/>
              </a:rPr>
              <a:t>urbaine</a:t>
            </a:r>
            <a:endParaRPr lang="en-US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endParaRPr lang="en-US" sz="20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000" b="1" dirty="0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Bonus :</a:t>
            </a:r>
          </a:p>
          <a:p>
            <a:pPr marL="0" lvl="0" indent="0" algn="just">
              <a:lnSpc>
                <a:spcPts val="3498"/>
              </a:lnSpc>
            </a:pPr>
            <a:r>
              <a:rPr lang="en-US" sz="2000" b="1" u="sng" dirty="0" err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  <a:hlinkClick r:id="rId2" tooltip="https://notebooklm.google.com/notebook/bec135f1-ad71-480d-95cf-ede7012a7cfe/artifact/68f3882c-8294-4115-b71d-f2c17b4d9d46?utm_source=nlm_web_share&amp;utm_medium=google_oo&amp;utm_campaign=art_share_2&amp;utm_content=&amp;utm_smc=nlm_web_share_google_oo_art_share_2_"/>
              </a:rPr>
              <a:t>Quizz</a:t>
            </a:r>
            <a:r>
              <a:rPr lang="en-US" sz="2000" b="1" u="sng" dirty="0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  <a:hlinkClick r:id="rId2" tooltip="https://notebooklm.google.com/notebook/bec135f1-ad71-480d-95cf-ede7012a7cfe/artifact/68f3882c-8294-4115-b71d-f2c17b4d9d46?utm_source=nlm_web_share&amp;utm_medium=google_oo&amp;utm_campaign=art_share_2&amp;utm_content=&amp;utm_smc=nlm_web_share_google_oo_art_share_2_"/>
              </a:rPr>
              <a:t> final</a:t>
            </a:r>
          </a:p>
          <a:p>
            <a:pPr algn="just">
              <a:lnSpc>
                <a:spcPts val="3498"/>
              </a:lnSpc>
            </a:pPr>
            <a:endParaRPr lang="en-US" sz="2000" dirty="0">
              <a:solidFill>
                <a:srgbClr val="1D4AB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9624979">
            <a:off x="3049243" y="628272"/>
            <a:ext cx="3944288" cy="9931744"/>
            <a:chOff x="0" y="0"/>
            <a:chExt cx="580911" cy="1462738"/>
          </a:xfrm>
        </p:grpSpPr>
        <p:sp>
          <p:nvSpPr>
            <p:cNvPr id="3" name="Freeform 3"/>
            <p:cNvSpPr/>
            <p:nvPr/>
          </p:nvSpPr>
          <p:spPr>
            <a:xfrm>
              <a:off x="15229" y="0"/>
              <a:ext cx="550454" cy="1462738"/>
            </a:xfrm>
            <a:custGeom>
              <a:avLst/>
              <a:gdLst/>
              <a:ahLst/>
              <a:cxnLst/>
              <a:rect l="l" t="t" r="r" b="b"/>
              <a:pathLst>
                <a:path w="550454" h="1462738">
                  <a:moveTo>
                    <a:pt x="305740" y="0"/>
                  </a:moveTo>
                  <a:lnTo>
                    <a:pt x="447913" y="0"/>
                  </a:lnTo>
                  <a:cubicBezTo>
                    <a:pt x="477569" y="0"/>
                    <a:pt x="505773" y="12840"/>
                    <a:pt x="525247" y="35206"/>
                  </a:cubicBezTo>
                  <a:cubicBezTo>
                    <a:pt x="544721" y="57572"/>
                    <a:pt x="553558" y="87275"/>
                    <a:pt x="549477" y="116649"/>
                  </a:cubicBezTo>
                  <a:lnTo>
                    <a:pt x="378687" y="1346089"/>
                  </a:lnTo>
                  <a:cubicBezTo>
                    <a:pt x="369397" y="1412958"/>
                    <a:pt x="312224" y="1462738"/>
                    <a:pt x="244713" y="1462738"/>
                  </a:cubicBezTo>
                  <a:lnTo>
                    <a:pt x="102540" y="1462738"/>
                  </a:lnTo>
                  <a:cubicBezTo>
                    <a:pt x="72884" y="1462738"/>
                    <a:pt x="44680" y="1449898"/>
                    <a:pt x="25206" y="1427532"/>
                  </a:cubicBezTo>
                  <a:cubicBezTo>
                    <a:pt x="5732" y="1405165"/>
                    <a:pt x="-3105" y="1375463"/>
                    <a:pt x="976" y="1346089"/>
                  </a:cubicBezTo>
                  <a:lnTo>
                    <a:pt x="171766" y="116649"/>
                  </a:lnTo>
                  <a:cubicBezTo>
                    <a:pt x="181056" y="49780"/>
                    <a:pt x="238229" y="0"/>
                    <a:pt x="3057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100000"/>
                  </a:srgbClr>
                </a:gs>
                <a:gs pos="100000">
                  <a:srgbClr val="43CC2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77711" cy="1500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9571724">
            <a:off x="-5177266" y="-2187579"/>
            <a:ext cx="9232280" cy="11813464"/>
            <a:chOff x="0" y="0"/>
            <a:chExt cx="1359721" cy="1739876"/>
          </a:xfrm>
        </p:grpSpPr>
        <p:sp>
          <p:nvSpPr>
            <p:cNvPr id="6" name="Freeform 6"/>
            <p:cNvSpPr/>
            <p:nvPr/>
          </p:nvSpPr>
          <p:spPr>
            <a:xfrm>
              <a:off x="5534" y="0"/>
              <a:ext cx="1348653" cy="1739876"/>
            </a:xfrm>
            <a:custGeom>
              <a:avLst/>
              <a:gdLst/>
              <a:ahLst/>
              <a:cxnLst/>
              <a:rect l="l" t="t" r="r" b="b"/>
              <a:pathLst>
                <a:path w="1348653" h="1739876">
                  <a:moveTo>
                    <a:pt x="247980" y="0"/>
                  </a:moveTo>
                  <a:lnTo>
                    <a:pt x="1303873" y="0"/>
                  </a:lnTo>
                  <a:cubicBezTo>
                    <a:pt x="1316654" y="0"/>
                    <a:pt x="1328826" y="5461"/>
                    <a:pt x="1337324" y="15009"/>
                  </a:cubicBezTo>
                  <a:cubicBezTo>
                    <a:pt x="1345821" y="24556"/>
                    <a:pt x="1349834" y="37280"/>
                    <a:pt x="1348351" y="49975"/>
                  </a:cubicBezTo>
                  <a:lnTo>
                    <a:pt x="1156824" y="1689901"/>
                  </a:lnTo>
                  <a:cubicBezTo>
                    <a:pt x="1153497" y="1718393"/>
                    <a:pt x="1129358" y="1739876"/>
                    <a:pt x="1100673" y="1739876"/>
                  </a:cubicBezTo>
                  <a:lnTo>
                    <a:pt x="44780" y="1739876"/>
                  </a:lnTo>
                  <a:cubicBezTo>
                    <a:pt x="31999" y="1739876"/>
                    <a:pt x="19827" y="1734414"/>
                    <a:pt x="11330" y="1724867"/>
                  </a:cubicBezTo>
                  <a:cubicBezTo>
                    <a:pt x="2833" y="1715320"/>
                    <a:pt x="-1180" y="1702596"/>
                    <a:pt x="303" y="1689901"/>
                  </a:cubicBezTo>
                  <a:lnTo>
                    <a:pt x="191829" y="49975"/>
                  </a:lnTo>
                  <a:cubicBezTo>
                    <a:pt x="195157" y="21483"/>
                    <a:pt x="219295" y="0"/>
                    <a:pt x="2479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100000"/>
                  </a:srgbClr>
                </a:gs>
                <a:gs pos="100000">
                  <a:srgbClr val="43CC2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1156521" cy="1777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3309992" y="8932504"/>
            <a:ext cx="18953602" cy="6042735"/>
            <a:chOff x="0" y="0"/>
            <a:chExt cx="2531226" cy="806999"/>
          </a:xfrm>
        </p:grpSpPr>
        <p:sp>
          <p:nvSpPr>
            <p:cNvPr id="10" name="Freeform 10"/>
            <p:cNvSpPr/>
            <p:nvPr/>
          </p:nvSpPr>
          <p:spPr>
            <a:xfrm>
              <a:off x="5406" y="0"/>
              <a:ext cx="2520415" cy="806999"/>
            </a:xfrm>
            <a:custGeom>
              <a:avLst/>
              <a:gdLst/>
              <a:ahLst/>
              <a:cxnLst/>
              <a:rect l="l" t="t" r="r" b="b"/>
              <a:pathLst>
                <a:path w="2520415" h="806999">
                  <a:moveTo>
                    <a:pt x="222302" y="0"/>
                  </a:moveTo>
                  <a:lnTo>
                    <a:pt x="2501313" y="0"/>
                  </a:lnTo>
                  <a:cubicBezTo>
                    <a:pt x="2507200" y="0"/>
                    <a:pt x="2512759" y="2715"/>
                    <a:pt x="2516379" y="7359"/>
                  </a:cubicBezTo>
                  <a:cubicBezTo>
                    <a:pt x="2519998" y="12003"/>
                    <a:pt x="2521274" y="18057"/>
                    <a:pt x="2519836" y="23766"/>
                  </a:cubicBezTo>
                  <a:lnTo>
                    <a:pt x="2328605" y="783232"/>
                  </a:lnTo>
                  <a:cubicBezTo>
                    <a:pt x="2325086" y="797205"/>
                    <a:pt x="2312521" y="806999"/>
                    <a:pt x="2298113" y="806999"/>
                  </a:cubicBezTo>
                  <a:lnTo>
                    <a:pt x="19102" y="806999"/>
                  </a:lnTo>
                  <a:cubicBezTo>
                    <a:pt x="13214" y="806999"/>
                    <a:pt x="7655" y="804283"/>
                    <a:pt x="4036" y="799640"/>
                  </a:cubicBezTo>
                  <a:cubicBezTo>
                    <a:pt x="416" y="794996"/>
                    <a:pt x="-859" y="788942"/>
                    <a:pt x="578" y="783232"/>
                  </a:cubicBezTo>
                  <a:lnTo>
                    <a:pt x="191810" y="23766"/>
                  </a:lnTo>
                  <a:cubicBezTo>
                    <a:pt x="195328" y="9793"/>
                    <a:pt x="207893" y="0"/>
                    <a:pt x="22230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26214">
                    <a:alpha val="100000"/>
                  </a:srgbClr>
                </a:gs>
                <a:gs pos="100000">
                  <a:srgbClr val="43CC2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600" y="-66675"/>
              <a:ext cx="2328026" cy="873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5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9546121" y="6268711"/>
            <a:ext cx="450220" cy="450220"/>
          </a:xfrm>
          <a:custGeom>
            <a:avLst/>
            <a:gdLst/>
            <a:ahLst/>
            <a:cxnLst/>
            <a:rect l="l" t="t" r="r" b="b"/>
            <a:pathLst>
              <a:path w="450220" h="450220">
                <a:moveTo>
                  <a:pt x="0" y="0"/>
                </a:moveTo>
                <a:lnTo>
                  <a:pt x="450220" y="0"/>
                </a:lnTo>
                <a:lnTo>
                  <a:pt x="450220" y="450220"/>
                </a:lnTo>
                <a:lnTo>
                  <a:pt x="0" y="450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Freeform 13"/>
          <p:cNvSpPr/>
          <p:nvPr/>
        </p:nvSpPr>
        <p:spPr>
          <a:xfrm>
            <a:off x="9565469" y="5530609"/>
            <a:ext cx="430872" cy="277325"/>
          </a:xfrm>
          <a:custGeom>
            <a:avLst/>
            <a:gdLst/>
            <a:ahLst/>
            <a:cxnLst/>
            <a:rect l="l" t="t" r="r" b="b"/>
            <a:pathLst>
              <a:path w="430872" h="277325">
                <a:moveTo>
                  <a:pt x="0" y="0"/>
                </a:moveTo>
                <a:lnTo>
                  <a:pt x="430872" y="0"/>
                </a:lnTo>
                <a:lnTo>
                  <a:pt x="430872" y="277325"/>
                </a:lnTo>
                <a:lnTo>
                  <a:pt x="0" y="277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1557999" y="828992"/>
            <a:ext cx="2916319" cy="34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</a:pPr>
            <a:r>
              <a:rPr lang="en-US" sz="189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Formation QGIS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46121" y="3260013"/>
            <a:ext cx="7900117" cy="127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05"/>
              </a:lnSpc>
            </a:pPr>
            <a:r>
              <a:rPr lang="en-US" sz="9776" b="1">
                <a:gradFill>
                  <a:gsLst>
                    <a:gs pos="0">
                      <a:srgbClr val="226214">
                        <a:alpha val="100000"/>
                      </a:srgbClr>
                    </a:gs>
                    <a:gs pos="100000">
                      <a:srgbClr val="43CC25">
                        <a:alpha val="100000"/>
                      </a:srgbClr>
                    </a:gs>
                  </a:gsLst>
                  <a:lin ang="5400000"/>
                </a:gradFill>
                <a:latin typeface="Poppins Bold"/>
                <a:ea typeface="Poppins Bold"/>
                <a:cs typeface="Poppins Bold"/>
                <a:sym typeface="Poppins Bold"/>
              </a:rPr>
              <a:t>Merci !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51855" y="6305536"/>
            <a:ext cx="7094384" cy="41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20"/>
              </a:lnSpc>
              <a:spcBef>
                <a:spcPct val="0"/>
              </a:spcBef>
            </a:pPr>
            <a:r>
              <a:rPr lang="en-US" sz="2371" b="1">
                <a:solidFill>
                  <a:srgbClr val="1D4AB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tristan14123.github.io/formation_qgis/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51855" y="5433999"/>
            <a:ext cx="5916952" cy="41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20"/>
              </a:lnSpc>
              <a:spcBef>
                <a:spcPct val="0"/>
              </a:spcBef>
            </a:pPr>
            <a:r>
              <a:rPr lang="en-US" sz="2371" b="1">
                <a:solidFill>
                  <a:srgbClr val="1D4AB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tristan.vachaudez@saint-lo-agglo.fr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81572" y="824468"/>
            <a:ext cx="345637" cy="351346"/>
          </a:xfrm>
          <a:custGeom>
            <a:avLst/>
            <a:gdLst/>
            <a:ahLst/>
            <a:cxnLst/>
            <a:rect l="l" t="t" r="r" b="b"/>
            <a:pathLst>
              <a:path w="345637" h="351346">
                <a:moveTo>
                  <a:pt x="0" y="0"/>
                </a:moveTo>
                <a:lnTo>
                  <a:pt x="345637" y="0"/>
                </a:lnTo>
                <a:lnTo>
                  <a:pt x="345637" y="351346"/>
                </a:lnTo>
                <a:lnTo>
                  <a:pt x="0" y="3513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2857</TotalTime>
  <Words>3032</Words>
  <Application>Microsoft Office PowerPoint</Application>
  <PresentationFormat>Personnalisé</PresentationFormat>
  <Paragraphs>447</Paragraphs>
  <Slides>31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7" baseType="lpstr">
      <vt:lpstr>Montserrat Medium</vt:lpstr>
      <vt:lpstr>Poppins</vt:lpstr>
      <vt:lpstr>Calibri</vt:lpstr>
      <vt:lpstr>Arial</vt:lpstr>
      <vt:lpstr>Poppins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QGIS</dc:title>
  <dc:creator>VACHAUDEZ Tristan</dc:creator>
  <cp:lastModifiedBy>VACHAUDEZ Tristan</cp:lastModifiedBy>
  <cp:revision>10</cp:revision>
  <dcterms:created xsi:type="dcterms:W3CDTF">2006-08-16T00:00:00Z</dcterms:created>
  <dcterms:modified xsi:type="dcterms:W3CDTF">2026-07-29T11:23:51Z</dcterms:modified>
  <dc:identifier>DAHIIe38EP4</dc:identifier>
</cp:coreProperties>
</file>